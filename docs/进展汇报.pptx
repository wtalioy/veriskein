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1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56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7.xml" ContentType="application/vnd.openxmlformats-officedocument.presentationml.notesSlide+xml"/>
  <Override PartName="/ppt/tags/tag67.xml" ContentType="application/vnd.openxmlformats-officedocument.presentationml.tags+xml"/>
  <Override PartName="/ppt/notesSlides/notesSlide8.xml" ContentType="application/vnd.openxmlformats-officedocument.presentationml.notesSlide+xml"/>
  <Override PartName="/ppt/tags/tag68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69.xml" ContentType="application/vnd.openxmlformats-officedocument.presentationml.tags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59" r:id="rId2"/>
  </p:sldMasterIdLst>
  <p:notesMasterIdLst>
    <p:notesMasterId r:id="rId14"/>
  </p:notesMasterIdLst>
  <p:handoutMasterIdLst>
    <p:handoutMasterId r:id="rId15"/>
  </p:handoutMasterIdLst>
  <p:sldIdLst>
    <p:sldId id="258" r:id="rId3"/>
    <p:sldId id="257" r:id="rId4"/>
    <p:sldId id="329" r:id="rId5"/>
    <p:sldId id="274" r:id="rId6"/>
    <p:sldId id="268" r:id="rId7"/>
    <p:sldId id="325" r:id="rId8"/>
    <p:sldId id="326" r:id="rId9"/>
    <p:sldId id="327" r:id="rId10"/>
    <p:sldId id="328" r:id="rId11"/>
    <p:sldId id="269" r:id="rId12"/>
    <p:sldId id="330" r:id="rId13"/>
  </p:sldIdLst>
  <p:sldSz cx="12192000" cy="6858000"/>
  <p:notesSz cx="6858000" cy="9144000"/>
  <p:embeddedFontLst>
    <p:embeddedFont>
      <p:font typeface="方正小标宋简体" panose="02010600030101010101" charset="-122"/>
      <p:regular r:id="rId16"/>
    </p:embeddedFont>
    <p:embeddedFont>
      <p:font typeface="Impact" panose="020B0806030902050204" pitchFamily="34" charset="0"/>
      <p:regular r:id="rId17"/>
    </p:embeddedFont>
    <p:embeddedFont>
      <p:font typeface="黑体" panose="02010609060101010101" pitchFamily="49" charset="-122"/>
      <p:regular r:id="rId18"/>
    </p:embeddedFont>
  </p:embeddedFontLst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04" userDrawn="1">
          <p15:clr>
            <a:srgbClr val="A4A3A4"/>
          </p15:clr>
        </p15:guide>
        <p15:guide id="2" pos="337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1784050621@qq.com" initials="1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3090"/>
    <a:srgbClr val="9B0000"/>
    <a:srgbClr val="9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A94BE00-C156-48F1-AE0D-31F0B4A650D9}" styleName="表样式 1">
    <a:wholeTbl>
      <a:tcTxStyle>
        <a:fontRef idx="none">
          <a:schemeClr val="tx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firstRow>
      <a:tcTxStyle b="on">
        <a:fontRef idx="none">
          <a:schemeClr val="bg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E57E7DA-3EFB-49D3-B587-F5069B199053}" styleName="表样式 1">
    <a:wholeTbl>
      <a:tcTxStyle>
        <a:fontRef idx="none">
          <a:schemeClr val="tx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firstRow>
      <a:tcTxStyle b="on">
        <a:fontRef idx="none">
          <a:schemeClr val="bg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9445996-2312-49B1-96F2-F39E9EB4F94C}" styleName="表样式 1 14">
    <a:wholeTbl>
      <a:tcTxStyle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lastCol>
      <a:tcTxStyle b="on"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bg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lastRow>
    <a:firstRow>
      <a:tcTxStyle b="on">
        <a:fontRef idx="none">
          <a:schemeClr val="bg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11DA996-12C8-46FB-9591-A1777E366F00}" styleName="表样式 1">
    <a:wholeTbl>
      <a:tcTxStyle>
        <a:fontRef idx="none">
          <a:schemeClr val="tx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firstRow>
      <a:tcTxStyle b="on">
        <a:fontRef idx="none">
          <a:schemeClr val="bg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4AC6BC4E-6879-46B7-B837-0501D2D2CF9E}" styleName="表样式 1 14">
    <a:wholeTbl>
      <a:tcTxStyle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lastCol>
      <a:tcTxStyle b="on"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bg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lastRow>
    <a:firstRow>
      <a:tcTxStyle b="on">
        <a:fontRef idx="none">
          <a:schemeClr val="bg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8" d="100"/>
          <a:sy n="118" d="100"/>
        </p:scale>
        <p:origin x="514" y="86"/>
      </p:cViewPr>
      <p:guideLst>
        <p:guide orient="horz" pos="3104"/>
        <p:guide pos="337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4" Type="http://schemas.openxmlformats.org/officeDocument/2006/relationships/image" Target="../media/image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4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4" Type="http://schemas.openxmlformats.org/officeDocument/2006/relationships/image" Target="../media/image1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4" Type="http://schemas.openxmlformats.org/officeDocument/2006/relationships/image" Target="../media/image1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4" Type="http://schemas.openxmlformats.org/officeDocument/2006/relationships/image" Target="../media/image1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4" Type="http://schemas.openxmlformats.org/officeDocument/2006/relationships/image" Target="../media/image1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4" Type="http://schemas.openxmlformats.org/officeDocument/2006/relationships/image" Target="../media/image1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4" Type="http://schemas.openxmlformats.org/officeDocument/2006/relationships/image" Target="../media/image1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4" Type="http://schemas.openxmlformats.org/officeDocument/2006/relationships/image" Target="../media/image1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4" Type="http://schemas.openxmlformats.org/officeDocument/2006/relationships/image" Target="../media/image1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4" Type="http://schemas.openxmlformats.org/officeDocument/2006/relationships/image" Target="../media/image1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4" Type="http://schemas.openxmlformats.org/officeDocument/2006/relationships/image" Target="../media/image1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108" y="116581"/>
            <a:ext cx="1801624" cy="576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0" y="6740525"/>
            <a:ext cx="12192000" cy="11049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: 圆角 144"/>
          <p:cNvSpPr/>
          <p:nvPr userDrawn="1">
            <p:custDataLst>
              <p:tags r:id="rId1"/>
            </p:custDataLst>
          </p:nvPr>
        </p:nvSpPr>
        <p:spPr>
          <a:xfrm>
            <a:off x="3399790" y="177165"/>
            <a:ext cx="7611110" cy="5156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accent6"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OPPOSans B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44" name="矩形: 圆角 143"/>
          <p:cNvSpPr/>
          <p:nvPr userDrawn="1">
            <p:custDataLst>
              <p:tags r:id="rId2"/>
            </p:custDataLst>
          </p:nvPr>
        </p:nvSpPr>
        <p:spPr>
          <a:xfrm>
            <a:off x="3399790" y="176530"/>
            <a:ext cx="1739900" cy="50927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cs typeface="OPPOSans B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47" name="文本框 146"/>
          <p:cNvSpPr txBox="1"/>
          <p:nvPr userDrawn="1"/>
        </p:nvSpPr>
        <p:spPr>
          <a:xfrm>
            <a:off x="3486150" y="279400"/>
            <a:ext cx="1559560" cy="300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9B0000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85954" tIns="42977" rIns="85954" bIns="42977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团队成员分工</a:t>
            </a:r>
          </a:p>
        </p:txBody>
      </p:sp>
      <p:sp>
        <p:nvSpPr>
          <p:cNvPr id="37" name="文本框 36"/>
          <p:cNvSpPr txBox="1"/>
          <p:nvPr userDrawn="1"/>
        </p:nvSpPr>
        <p:spPr>
          <a:xfrm>
            <a:off x="8964295" y="278130"/>
            <a:ext cx="1645285" cy="300355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85954" tIns="42977" rIns="85954" bIns="42977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400" b="1" dirty="0">
                <a:solidFill>
                  <a:schemeClr val="tx1"/>
                </a:solidFill>
                <a:latin typeface="+mn-ea"/>
                <a:sym typeface="Arial" panose="020B0604020202020204" pitchFamily="34" charset="0"/>
              </a:rPr>
              <a:t>AI</a:t>
            </a:r>
            <a:r>
              <a:rPr lang="zh-CN" altLang="en-US" sz="1400" b="1" dirty="0">
                <a:solidFill>
                  <a:schemeClr val="tx1"/>
                </a:solidFill>
                <a:latin typeface="+mn-ea"/>
                <a:sym typeface="Arial" panose="020B0604020202020204" pitchFamily="34" charset="0"/>
              </a:rPr>
              <a:t>使用说明</a:t>
            </a:r>
          </a:p>
        </p:txBody>
      </p:sp>
      <p:sp>
        <p:nvSpPr>
          <p:cNvPr id="41" name="文本框 40"/>
          <p:cNvSpPr txBox="1"/>
          <p:nvPr userDrawn="1"/>
        </p:nvSpPr>
        <p:spPr>
          <a:xfrm>
            <a:off x="6382385" y="278130"/>
            <a:ext cx="1645285" cy="300355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85954" tIns="42977" rIns="85954" bIns="42977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  <a:sym typeface="Arial" panose="020B0604020202020204" pitchFamily="34" charset="0"/>
              </a:rPr>
              <a:t>项目进度安排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108" y="116581"/>
            <a:ext cx="1801624" cy="576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0" y="6740525"/>
            <a:ext cx="12192000" cy="11049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: 圆角 144"/>
          <p:cNvSpPr/>
          <p:nvPr userDrawn="1">
            <p:custDataLst>
              <p:tags r:id="rId1"/>
            </p:custDataLst>
          </p:nvPr>
        </p:nvSpPr>
        <p:spPr>
          <a:xfrm>
            <a:off x="3399790" y="177165"/>
            <a:ext cx="7611110" cy="5156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accent6"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OPPOSans B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44" name="矩形: 圆角 143"/>
          <p:cNvSpPr/>
          <p:nvPr userDrawn="1">
            <p:custDataLst>
              <p:tags r:id="rId2"/>
            </p:custDataLst>
          </p:nvPr>
        </p:nvSpPr>
        <p:spPr>
          <a:xfrm>
            <a:off x="6287770" y="183515"/>
            <a:ext cx="1739900" cy="50927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cs typeface="OPPOSans B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47" name="文本框 146"/>
          <p:cNvSpPr txBox="1"/>
          <p:nvPr userDrawn="1"/>
        </p:nvSpPr>
        <p:spPr>
          <a:xfrm>
            <a:off x="3486150" y="279400"/>
            <a:ext cx="1559560" cy="300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9B0000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85954" tIns="42977" rIns="85954" bIns="42977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  <a:sym typeface="Arial" panose="020B0604020202020204" pitchFamily="34" charset="0"/>
              </a:rPr>
              <a:t>团队成员分工</a:t>
            </a:r>
          </a:p>
        </p:txBody>
      </p:sp>
      <p:sp>
        <p:nvSpPr>
          <p:cNvPr id="37" name="文本框 36"/>
          <p:cNvSpPr txBox="1"/>
          <p:nvPr userDrawn="1"/>
        </p:nvSpPr>
        <p:spPr>
          <a:xfrm>
            <a:off x="8964295" y="278130"/>
            <a:ext cx="1645285" cy="300355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85954" tIns="42977" rIns="85954" bIns="42977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400" b="1" dirty="0">
                <a:solidFill>
                  <a:schemeClr val="tx1"/>
                </a:solidFill>
                <a:latin typeface="+mn-ea"/>
                <a:sym typeface="Arial" panose="020B0604020202020204" pitchFamily="34" charset="0"/>
              </a:rPr>
              <a:t>AI</a:t>
            </a:r>
            <a:r>
              <a:rPr lang="zh-CN" altLang="en-US" sz="1400" b="1" dirty="0">
                <a:solidFill>
                  <a:schemeClr val="tx1"/>
                </a:solidFill>
                <a:latin typeface="+mn-ea"/>
                <a:sym typeface="Arial" panose="020B0604020202020204" pitchFamily="34" charset="0"/>
              </a:rPr>
              <a:t>使用说明</a:t>
            </a:r>
          </a:p>
        </p:txBody>
      </p:sp>
      <p:sp>
        <p:nvSpPr>
          <p:cNvPr id="41" name="文本框 40"/>
          <p:cNvSpPr txBox="1"/>
          <p:nvPr userDrawn="1"/>
        </p:nvSpPr>
        <p:spPr>
          <a:xfrm>
            <a:off x="6388100" y="278130"/>
            <a:ext cx="1555115" cy="300355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lIns="85954" tIns="42977" rIns="85954" bIns="42977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项目进度安排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108" y="116581"/>
            <a:ext cx="1801624" cy="576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0" y="6740525"/>
            <a:ext cx="12192000" cy="11049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: 圆角 144"/>
          <p:cNvSpPr/>
          <p:nvPr userDrawn="1">
            <p:custDataLst>
              <p:tags r:id="rId1"/>
            </p:custDataLst>
          </p:nvPr>
        </p:nvSpPr>
        <p:spPr>
          <a:xfrm>
            <a:off x="3399790" y="177165"/>
            <a:ext cx="7611110" cy="5156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accent6"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OPPOSans B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44" name="矩形: 圆角 143"/>
          <p:cNvSpPr/>
          <p:nvPr userDrawn="1">
            <p:custDataLst>
              <p:tags r:id="rId2"/>
            </p:custDataLst>
          </p:nvPr>
        </p:nvSpPr>
        <p:spPr>
          <a:xfrm>
            <a:off x="9264650" y="177800"/>
            <a:ext cx="1739900" cy="50927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cs typeface="OPPOSans B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47" name="文本框 146"/>
          <p:cNvSpPr txBox="1"/>
          <p:nvPr userDrawn="1"/>
        </p:nvSpPr>
        <p:spPr>
          <a:xfrm>
            <a:off x="3486150" y="279400"/>
            <a:ext cx="1559560" cy="300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9B0000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85954" tIns="42977" rIns="85954" bIns="42977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  <a:sym typeface="Arial" panose="020B0604020202020204" pitchFamily="34" charset="0"/>
              </a:rPr>
              <a:t>团队成员分工</a:t>
            </a:r>
          </a:p>
        </p:txBody>
      </p:sp>
      <p:sp>
        <p:nvSpPr>
          <p:cNvPr id="37" name="文本框 36"/>
          <p:cNvSpPr txBox="1"/>
          <p:nvPr userDrawn="1"/>
        </p:nvSpPr>
        <p:spPr>
          <a:xfrm>
            <a:off x="9312275" y="279400"/>
            <a:ext cx="1645285" cy="300355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lIns="85954" tIns="42977" rIns="85954" bIns="42977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b="1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AI使用说明</a:t>
            </a:r>
          </a:p>
        </p:txBody>
      </p:sp>
      <p:sp>
        <p:nvSpPr>
          <p:cNvPr id="41" name="文本框 40"/>
          <p:cNvSpPr txBox="1"/>
          <p:nvPr userDrawn="1"/>
        </p:nvSpPr>
        <p:spPr>
          <a:xfrm>
            <a:off x="6296660" y="279400"/>
            <a:ext cx="1645285" cy="300355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85954" tIns="42977" rIns="85954" bIns="42977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  <a:sym typeface="Arial" panose="020B0604020202020204" pitchFamily="34" charset="0"/>
              </a:rPr>
              <a:t>项目进度安排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: 圆角 144"/>
          <p:cNvSpPr/>
          <p:nvPr userDrawn="1">
            <p:custDataLst>
              <p:tags r:id="rId1"/>
            </p:custDataLst>
          </p:nvPr>
        </p:nvSpPr>
        <p:spPr>
          <a:xfrm>
            <a:off x="2538730" y="137795"/>
            <a:ext cx="9228455" cy="5156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accent6"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OPPOSans B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44" name="矩形: 圆角 143"/>
          <p:cNvSpPr/>
          <p:nvPr userDrawn="1">
            <p:custDataLst>
              <p:tags r:id="rId2"/>
            </p:custDataLst>
          </p:nvPr>
        </p:nvSpPr>
        <p:spPr>
          <a:xfrm>
            <a:off x="2538730" y="137160"/>
            <a:ext cx="1739900" cy="50927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cs typeface="OPPOSans B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47" name="文本框 146"/>
          <p:cNvSpPr txBox="1"/>
          <p:nvPr userDrawn="1"/>
        </p:nvSpPr>
        <p:spPr>
          <a:xfrm>
            <a:off x="2625090" y="240030"/>
            <a:ext cx="1559560" cy="300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9B0000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85954" tIns="42977" rIns="85954" bIns="42977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项目概述</a:t>
            </a:r>
          </a:p>
        </p:txBody>
      </p:sp>
      <p:sp>
        <p:nvSpPr>
          <p:cNvPr id="37" name="文本框 36"/>
          <p:cNvSpPr txBox="1"/>
          <p:nvPr userDrawn="1"/>
        </p:nvSpPr>
        <p:spPr>
          <a:xfrm>
            <a:off x="6522085" y="238760"/>
            <a:ext cx="1645285" cy="300355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85954" tIns="42977" rIns="85954" bIns="42977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b="1">
                <a:latin typeface="+mj-ea"/>
                <a:ea typeface="+mj-ea"/>
                <a:cs typeface="+mj-ea"/>
                <a:sym typeface="+mn-ea"/>
              </a:rPr>
              <a:t>关键技术实现</a:t>
            </a:r>
            <a:endParaRPr lang="zh-CN" altLang="en-US" sz="1400" b="1" dirty="0">
              <a:solidFill>
                <a:schemeClr val="tx1"/>
              </a:solidFill>
              <a:latin typeface="+mn-ea"/>
              <a:sym typeface="Arial" panose="020B0604020202020204" pitchFamily="34" charset="0"/>
            </a:endParaRPr>
          </a:p>
        </p:txBody>
      </p:sp>
      <p:sp>
        <p:nvSpPr>
          <p:cNvPr id="38" name="文本框 37"/>
          <p:cNvSpPr txBox="1"/>
          <p:nvPr userDrawn="1"/>
        </p:nvSpPr>
        <p:spPr>
          <a:xfrm>
            <a:off x="8449310" y="238760"/>
            <a:ext cx="1454785" cy="300355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85954" tIns="42977" rIns="85954" bIns="42977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  <a:sym typeface="Arial" panose="020B0604020202020204" pitchFamily="34" charset="0"/>
              </a:rPr>
              <a:t>测试与评估</a:t>
            </a:r>
          </a:p>
        </p:txBody>
      </p:sp>
      <p:sp>
        <p:nvSpPr>
          <p:cNvPr id="40" name="文本框 39"/>
          <p:cNvSpPr txBox="1"/>
          <p:nvPr userDrawn="1"/>
        </p:nvSpPr>
        <p:spPr>
          <a:xfrm>
            <a:off x="10186035" y="238760"/>
            <a:ext cx="1422400" cy="300355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85954" tIns="42977" rIns="85954" bIns="42977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  <a:sym typeface="Arial" panose="020B0604020202020204" pitchFamily="34" charset="0"/>
              </a:rPr>
              <a:t>总结与展望</a:t>
            </a:r>
          </a:p>
        </p:txBody>
      </p:sp>
      <p:sp>
        <p:nvSpPr>
          <p:cNvPr id="41" name="文本框 40"/>
          <p:cNvSpPr txBox="1"/>
          <p:nvPr userDrawn="1"/>
        </p:nvSpPr>
        <p:spPr>
          <a:xfrm>
            <a:off x="4594860" y="238760"/>
            <a:ext cx="1645285" cy="300355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85954" tIns="42977" rIns="85954" bIns="42977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  <a:sym typeface="Arial" panose="020B0604020202020204" pitchFamily="34" charset="0"/>
              </a:rPr>
              <a:t>系统架构</a:t>
            </a:r>
          </a:p>
        </p:txBody>
      </p:sp>
      <p:sp>
        <p:nvSpPr>
          <p:cNvPr id="2" name="矩形 1"/>
          <p:cNvSpPr/>
          <p:nvPr userDrawn="1"/>
        </p:nvSpPr>
        <p:spPr>
          <a:xfrm>
            <a:off x="0" y="6740525"/>
            <a:ext cx="12192000" cy="11049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108" y="116581"/>
            <a:ext cx="1801624" cy="57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: 圆角 144"/>
          <p:cNvSpPr/>
          <p:nvPr userDrawn="1">
            <p:custDataLst>
              <p:tags r:id="rId1"/>
            </p:custDataLst>
          </p:nvPr>
        </p:nvSpPr>
        <p:spPr>
          <a:xfrm>
            <a:off x="2538730" y="137795"/>
            <a:ext cx="9228455" cy="5156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accent6"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OPPOSans B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44" name="矩形: 圆角 143"/>
          <p:cNvSpPr/>
          <p:nvPr userDrawn="1">
            <p:custDataLst>
              <p:tags r:id="rId2"/>
            </p:custDataLst>
          </p:nvPr>
        </p:nvSpPr>
        <p:spPr>
          <a:xfrm>
            <a:off x="4532630" y="137160"/>
            <a:ext cx="1739900" cy="50927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cs typeface="OPPOSans B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47" name="文本框 146"/>
          <p:cNvSpPr txBox="1"/>
          <p:nvPr userDrawn="1"/>
        </p:nvSpPr>
        <p:spPr>
          <a:xfrm>
            <a:off x="2573020" y="240030"/>
            <a:ext cx="1739900" cy="300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9B0000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85954" tIns="42977" rIns="85954" bIns="42977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  <a:sym typeface="Arial" panose="020B0604020202020204" pitchFamily="34" charset="0"/>
              </a:rPr>
              <a:t>项目概述</a:t>
            </a:r>
          </a:p>
        </p:txBody>
      </p:sp>
      <p:sp>
        <p:nvSpPr>
          <p:cNvPr id="37" name="文本框 36"/>
          <p:cNvSpPr txBox="1"/>
          <p:nvPr userDrawn="1"/>
        </p:nvSpPr>
        <p:spPr>
          <a:xfrm>
            <a:off x="6522085" y="238760"/>
            <a:ext cx="1645285" cy="300355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85954" tIns="42977" rIns="85954" bIns="42977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b="1">
                <a:latin typeface="+mj-ea"/>
                <a:ea typeface="+mj-ea"/>
                <a:cs typeface="+mj-ea"/>
                <a:sym typeface="+mn-ea"/>
              </a:rPr>
              <a:t>关键技术实现</a:t>
            </a:r>
            <a:endParaRPr lang="zh-CN" altLang="en-US" sz="1400" b="1" dirty="0">
              <a:solidFill>
                <a:schemeClr val="tx1"/>
              </a:solidFill>
              <a:latin typeface="+mn-ea"/>
              <a:sym typeface="Arial" panose="020B0604020202020204" pitchFamily="34" charset="0"/>
            </a:endParaRPr>
          </a:p>
        </p:txBody>
      </p:sp>
      <p:sp>
        <p:nvSpPr>
          <p:cNvPr id="38" name="文本框 37"/>
          <p:cNvSpPr txBox="1"/>
          <p:nvPr userDrawn="1"/>
        </p:nvSpPr>
        <p:spPr>
          <a:xfrm>
            <a:off x="8449310" y="238760"/>
            <a:ext cx="1454785" cy="300355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85954" tIns="42977" rIns="85954" bIns="42977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  <a:sym typeface="Arial" panose="020B0604020202020204" pitchFamily="34" charset="0"/>
              </a:rPr>
              <a:t>测试与评估</a:t>
            </a:r>
          </a:p>
        </p:txBody>
      </p:sp>
      <p:sp>
        <p:nvSpPr>
          <p:cNvPr id="40" name="文本框 39"/>
          <p:cNvSpPr txBox="1"/>
          <p:nvPr userDrawn="1"/>
        </p:nvSpPr>
        <p:spPr>
          <a:xfrm>
            <a:off x="10186035" y="238760"/>
            <a:ext cx="1422400" cy="300355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85954" tIns="42977" rIns="85954" bIns="42977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  <a:sym typeface="Arial" panose="020B0604020202020204" pitchFamily="34" charset="0"/>
              </a:rPr>
              <a:t>总结与展望</a:t>
            </a:r>
          </a:p>
        </p:txBody>
      </p:sp>
      <p:sp>
        <p:nvSpPr>
          <p:cNvPr id="41" name="文本框 40"/>
          <p:cNvSpPr txBox="1"/>
          <p:nvPr userDrawn="1"/>
        </p:nvSpPr>
        <p:spPr>
          <a:xfrm>
            <a:off x="4684395" y="238760"/>
            <a:ext cx="1466850" cy="300355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lIns="85954" tIns="42977" rIns="85954" bIns="42977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系统架构</a:t>
            </a:r>
          </a:p>
        </p:txBody>
      </p:sp>
      <p:sp>
        <p:nvSpPr>
          <p:cNvPr id="4" name="矩形 3"/>
          <p:cNvSpPr/>
          <p:nvPr userDrawn="1"/>
        </p:nvSpPr>
        <p:spPr>
          <a:xfrm>
            <a:off x="0" y="6740525"/>
            <a:ext cx="12192000" cy="11049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108" y="116581"/>
            <a:ext cx="1801624" cy="57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: 圆角 144"/>
          <p:cNvSpPr/>
          <p:nvPr userDrawn="1">
            <p:custDataLst>
              <p:tags r:id="rId1"/>
            </p:custDataLst>
          </p:nvPr>
        </p:nvSpPr>
        <p:spPr>
          <a:xfrm>
            <a:off x="2538730" y="137795"/>
            <a:ext cx="9228455" cy="5156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accent6"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OPPOSans B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44" name="矩形: 圆角 143"/>
          <p:cNvSpPr/>
          <p:nvPr userDrawn="1">
            <p:custDataLst>
              <p:tags r:id="rId2"/>
            </p:custDataLst>
          </p:nvPr>
        </p:nvSpPr>
        <p:spPr>
          <a:xfrm>
            <a:off x="6482080" y="137160"/>
            <a:ext cx="1739900" cy="50927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cs typeface="OPPOSans B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47" name="文本框 146"/>
          <p:cNvSpPr txBox="1"/>
          <p:nvPr userDrawn="1"/>
        </p:nvSpPr>
        <p:spPr>
          <a:xfrm>
            <a:off x="2573020" y="240030"/>
            <a:ext cx="1739900" cy="300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9B0000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85954" tIns="42977" rIns="85954" bIns="42977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  <a:sym typeface="Arial" panose="020B0604020202020204" pitchFamily="34" charset="0"/>
              </a:rPr>
              <a:t>项目概述</a:t>
            </a:r>
          </a:p>
        </p:txBody>
      </p:sp>
      <p:sp>
        <p:nvSpPr>
          <p:cNvPr id="37" name="文本框 36"/>
          <p:cNvSpPr txBox="1"/>
          <p:nvPr userDrawn="1"/>
        </p:nvSpPr>
        <p:spPr>
          <a:xfrm>
            <a:off x="6522085" y="238760"/>
            <a:ext cx="1645285" cy="300355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lIns="85954" tIns="42977" rIns="85954" bIns="42977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b="1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关键技术实现</a:t>
            </a:r>
            <a:endParaRPr lang="zh-CN" altLang="en-US" sz="1400" b="1" dirty="0">
              <a:solidFill>
                <a:schemeClr val="bg1"/>
              </a:solidFill>
              <a:latin typeface="+mj-ea"/>
              <a:ea typeface="+mj-ea"/>
              <a:cs typeface="+mj-ea"/>
              <a:sym typeface="+mn-ea"/>
            </a:endParaRPr>
          </a:p>
        </p:txBody>
      </p:sp>
      <p:sp>
        <p:nvSpPr>
          <p:cNvPr id="38" name="文本框 37"/>
          <p:cNvSpPr txBox="1"/>
          <p:nvPr userDrawn="1"/>
        </p:nvSpPr>
        <p:spPr>
          <a:xfrm>
            <a:off x="8449310" y="238760"/>
            <a:ext cx="1454785" cy="300355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85954" tIns="42977" rIns="85954" bIns="42977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  <a:sym typeface="Arial" panose="020B0604020202020204" pitchFamily="34" charset="0"/>
              </a:rPr>
              <a:t>测试与评估</a:t>
            </a:r>
          </a:p>
        </p:txBody>
      </p:sp>
      <p:sp>
        <p:nvSpPr>
          <p:cNvPr id="40" name="文本框 39"/>
          <p:cNvSpPr txBox="1"/>
          <p:nvPr userDrawn="1"/>
        </p:nvSpPr>
        <p:spPr>
          <a:xfrm>
            <a:off x="10186035" y="238760"/>
            <a:ext cx="1422400" cy="300355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85954" tIns="42977" rIns="85954" bIns="42977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  <a:sym typeface="Arial" panose="020B0604020202020204" pitchFamily="34" charset="0"/>
              </a:rPr>
              <a:t>总结与展望</a:t>
            </a:r>
          </a:p>
        </p:txBody>
      </p:sp>
      <p:sp>
        <p:nvSpPr>
          <p:cNvPr id="41" name="文本框 40"/>
          <p:cNvSpPr txBox="1"/>
          <p:nvPr userDrawn="1"/>
        </p:nvSpPr>
        <p:spPr>
          <a:xfrm>
            <a:off x="4594860" y="238760"/>
            <a:ext cx="1645285" cy="300355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lIns="85954" tIns="42977" rIns="85954" bIns="42977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  <a:sym typeface="Arial" panose="020B0604020202020204" pitchFamily="34" charset="0"/>
              </a:rPr>
              <a:t>系统架构</a:t>
            </a:r>
          </a:p>
        </p:txBody>
      </p:sp>
      <p:sp>
        <p:nvSpPr>
          <p:cNvPr id="4" name="矩形 3"/>
          <p:cNvSpPr/>
          <p:nvPr userDrawn="1"/>
        </p:nvSpPr>
        <p:spPr>
          <a:xfrm>
            <a:off x="0" y="6740525"/>
            <a:ext cx="12192000" cy="11049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108" y="116581"/>
            <a:ext cx="1801624" cy="57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: 圆角 144"/>
          <p:cNvSpPr/>
          <p:nvPr userDrawn="1">
            <p:custDataLst>
              <p:tags r:id="rId1"/>
            </p:custDataLst>
          </p:nvPr>
        </p:nvSpPr>
        <p:spPr>
          <a:xfrm>
            <a:off x="2538730" y="137795"/>
            <a:ext cx="9228455" cy="5156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accent6"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OPPOSans B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44" name="矩形: 圆角 143"/>
          <p:cNvSpPr/>
          <p:nvPr userDrawn="1">
            <p:custDataLst>
              <p:tags r:id="rId2"/>
            </p:custDataLst>
          </p:nvPr>
        </p:nvSpPr>
        <p:spPr>
          <a:xfrm>
            <a:off x="8310880" y="137160"/>
            <a:ext cx="1739900" cy="50927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cs typeface="OPPOSans B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47" name="文本框 146"/>
          <p:cNvSpPr txBox="1"/>
          <p:nvPr userDrawn="1"/>
        </p:nvSpPr>
        <p:spPr>
          <a:xfrm>
            <a:off x="2573020" y="240030"/>
            <a:ext cx="1739900" cy="300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9B0000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85954" tIns="42977" rIns="85954" bIns="42977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  <a:sym typeface="Arial" panose="020B0604020202020204" pitchFamily="34" charset="0"/>
              </a:rPr>
              <a:t>项目概述</a:t>
            </a:r>
          </a:p>
        </p:txBody>
      </p:sp>
      <p:sp>
        <p:nvSpPr>
          <p:cNvPr id="37" name="文本框 36"/>
          <p:cNvSpPr txBox="1"/>
          <p:nvPr userDrawn="1"/>
        </p:nvSpPr>
        <p:spPr>
          <a:xfrm>
            <a:off x="6522085" y="238760"/>
            <a:ext cx="1645285" cy="300355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lIns="85954" tIns="42977" rIns="85954" bIns="42977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b="1">
                <a:latin typeface="+mj-ea"/>
                <a:ea typeface="+mj-ea"/>
                <a:cs typeface="+mj-ea"/>
                <a:sym typeface="+mn-ea"/>
              </a:rPr>
              <a:t>关键技术实现</a:t>
            </a:r>
            <a:endParaRPr lang="zh-CN" altLang="en-US" sz="1400" b="1" dirty="0">
              <a:solidFill>
                <a:schemeClr val="tx1"/>
              </a:solidFill>
              <a:latin typeface="+mn-ea"/>
              <a:sym typeface="Arial" panose="020B0604020202020204" pitchFamily="34" charset="0"/>
            </a:endParaRPr>
          </a:p>
        </p:txBody>
      </p:sp>
      <p:sp>
        <p:nvSpPr>
          <p:cNvPr id="38" name="文本框 37"/>
          <p:cNvSpPr txBox="1"/>
          <p:nvPr userDrawn="1"/>
        </p:nvSpPr>
        <p:spPr>
          <a:xfrm>
            <a:off x="8449310" y="238760"/>
            <a:ext cx="1454785" cy="300355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lIns="85954" tIns="42977" rIns="85954" bIns="42977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测试与评估</a:t>
            </a:r>
          </a:p>
        </p:txBody>
      </p:sp>
      <p:sp>
        <p:nvSpPr>
          <p:cNvPr id="40" name="文本框 39"/>
          <p:cNvSpPr txBox="1"/>
          <p:nvPr userDrawn="1"/>
        </p:nvSpPr>
        <p:spPr>
          <a:xfrm>
            <a:off x="10186035" y="238760"/>
            <a:ext cx="1422400" cy="300355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85954" tIns="42977" rIns="85954" bIns="42977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  <a:sym typeface="Arial" panose="020B0604020202020204" pitchFamily="34" charset="0"/>
              </a:rPr>
              <a:t>总结与展望</a:t>
            </a:r>
          </a:p>
        </p:txBody>
      </p:sp>
      <p:sp>
        <p:nvSpPr>
          <p:cNvPr id="41" name="文本框 40"/>
          <p:cNvSpPr txBox="1"/>
          <p:nvPr userDrawn="1"/>
        </p:nvSpPr>
        <p:spPr>
          <a:xfrm>
            <a:off x="4594860" y="238760"/>
            <a:ext cx="1645285" cy="300355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lIns="85954" tIns="42977" rIns="85954" bIns="42977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  <a:sym typeface="Arial" panose="020B0604020202020204" pitchFamily="34" charset="0"/>
              </a:rPr>
              <a:t>系统架构</a:t>
            </a:r>
          </a:p>
        </p:txBody>
      </p:sp>
      <p:sp>
        <p:nvSpPr>
          <p:cNvPr id="4" name="矩形 3"/>
          <p:cNvSpPr/>
          <p:nvPr userDrawn="1"/>
        </p:nvSpPr>
        <p:spPr>
          <a:xfrm>
            <a:off x="0" y="6740525"/>
            <a:ext cx="12192000" cy="11049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108" y="116581"/>
            <a:ext cx="1801624" cy="57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: 圆角 144"/>
          <p:cNvSpPr/>
          <p:nvPr userDrawn="1">
            <p:custDataLst>
              <p:tags r:id="rId1"/>
            </p:custDataLst>
          </p:nvPr>
        </p:nvSpPr>
        <p:spPr>
          <a:xfrm>
            <a:off x="2538730" y="137795"/>
            <a:ext cx="9228455" cy="5156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accent6"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OPPOSans B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44" name="矩形: 圆角 143"/>
          <p:cNvSpPr/>
          <p:nvPr userDrawn="1">
            <p:custDataLst>
              <p:tags r:id="rId2"/>
            </p:custDataLst>
          </p:nvPr>
        </p:nvSpPr>
        <p:spPr>
          <a:xfrm>
            <a:off x="10025380" y="137160"/>
            <a:ext cx="1739900" cy="50927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cs typeface="OPPOSans B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47" name="文本框 146"/>
          <p:cNvSpPr txBox="1"/>
          <p:nvPr userDrawn="1"/>
        </p:nvSpPr>
        <p:spPr>
          <a:xfrm>
            <a:off x="2573020" y="240030"/>
            <a:ext cx="1739900" cy="300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9B0000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85954" tIns="42977" rIns="85954" bIns="42977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  <a:sym typeface="Arial" panose="020B0604020202020204" pitchFamily="34" charset="0"/>
              </a:rPr>
              <a:t>项目概述</a:t>
            </a:r>
          </a:p>
        </p:txBody>
      </p:sp>
      <p:sp>
        <p:nvSpPr>
          <p:cNvPr id="37" name="文本框 36"/>
          <p:cNvSpPr txBox="1"/>
          <p:nvPr userDrawn="1"/>
        </p:nvSpPr>
        <p:spPr>
          <a:xfrm>
            <a:off x="6522085" y="238760"/>
            <a:ext cx="1645285" cy="300355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lIns="85954" tIns="42977" rIns="85954" bIns="42977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b="1">
                <a:latin typeface="+mj-ea"/>
                <a:ea typeface="+mj-ea"/>
                <a:cs typeface="+mj-ea"/>
                <a:sym typeface="+mn-ea"/>
              </a:rPr>
              <a:t>关键技术实现</a:t>
            </a:r>
            <a:endParaRPr lang="zh-CN" altLang="en-US" sz="1400" b="1" dirty="0">
              <a:solidFill>
                <a:schemeClr val="tx1"/>
              </a:solidFill>
              <a:latin typeface="+mn-ea"/>
              <a:sym typeface="Arial" panose="020B0604020202020204" pitchFamily="34" charset="0"/>
            </a:endParaRPr>
          </a:p>
        </p:txBody>
      </p:sp>
      <p:sp>
        <p:nvSpPr>
          <p:cNvPr id="38" name="文本框 37"/>
          <p:cNvSpPr txBox="1"/>
          <p:nvPr userDrawn="1"/>
        </p:nvSpPr>
        <p:spPr>
          <a:xfrm>
            <a:off x="8449310" y="238760"/>
            <a:ext cx="1454785" cy="300355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lIns="85954" tIns="42977" rIns="85954" bIns="42977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j-ea"/>
                <a:ea typeface="+mj-ea"/>
                <a:cs typeface="+mj-ea"/>
                <a:sym typeface="+mn-ea"/>
              </a:rPr>
              <a:t>测试与评估</a:t>
            </a:r>
          </a:p>
        </p:txBody>
      </p:sp>
      <p:sp>
        <p:nvSpPr>
          <p:cNvPr id="40" name="文本框 39"/>
          <p:cNvSpPr txBox="1"/>
          <p:nvPr userDrawn="1"/>
        </p:nvSpPr>
        <p:spPr>
          <a:xfrm>
            <a:off x="10186035" y="238760"/>
            <a:ext cx="1422400" cy="300355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lIns="85954" tIns="42977" rIns="85954" bIns="42977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总结与展望</a:t>
            </a:r>
          </a:p>
        </p:txBody>
      </p:sp>
      <p:sp>
        <p:nvSpPr>
          <p:cNvPr id="41" name="文本框 40"/>
          <p:cNvSpPr txBox="1"/>
          <p:nvPr userDrawn="1"/>
        </p:nvSpPr>
        <p:spPr>
          <a:xfrm>
            <a:off x="4594860" y="238760"/>
            <a:ext cx="1645285" cy="300355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lIns="85954" tIns="42977" rIns="85954" bIns="42977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  <a:sym typeface="Arial" panose="020B0604020202020204" pitchFamily="34" charset="0"/>
              </a:rPr>
              <a:t>系统架构</a:t>
            </a:r>
          </a:p>
        </p:txBody>
      </p:sp>
      <p:sp>
        <p:nvSpPr>
          <p:cNvPr id="4" name="矩形 3"/>
          <p:cNvSpPr/>
          <p:nvPr userDrawn="1"/>
        </p:nvSpPr>
        <p:spPr>
          <a:xfrm>
            <a:off x="0" y="6740525"/>
            <a:ext cx="12192000" cy="11049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108" y="116581"/>
            <a:ext cx="1801624" cy="57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: 圆角 144"/>
          <p:cNvSpPr/>
          <p:nvPr userDrawn="1">
            <p:custDataLst>
              <p:tags r:id="rId1"/>
            </p:custDataLst>
          </p:nvPr>
        </p:nvSpPr>
        <p:spPr>
          <a:xfrm>
            <a:off x="2538730" y="137795"/>
            <a:ext cx="9228455" cy="5156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accent6"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OPPOSans B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44" name="矩形: 圆角 143"/>
          <p:cNvSpPr/>
          <p:nvPr userDrawn="1">
            <p:custDataLst>
              <p:tags r:id="rId2"/>
            </p:custDataLst>
          </p:nvPr>
        </p:nvSpPr>
        <p:spPr>
          <a:xfrm>
            <a:off x="2538730" y="137160"/>
            <a:ext cx="1739900" cy="50927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cs typeface="OPPOSans B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47" name="文本框 146"/>
          <p:cNvSpPr txBox="1"/>
          <p:nvPr userDrawn="1"/>
        </p:nvSpPr>
        <p:spPr>
          <a:xfrm>
            <a:off x="2625090" y="240030"/>
            <a:ext cx="1559560" cy="300355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85954" tIns="42977" rIns="85954" bIns="42977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项目概述</a:t>
            </a:r>
          </a:p>
        </p:txBody>
      </p:sp>
      <p:sp>
        <p:nvSpPr>
          <p:cNvPr id="37" name="文本框 36"/>
          <p:cNvSpPr txBox="1"/>
          <p:nvPr userDrawn="1"/>
        </p:nvSpPr>
        <p:spPr>
          <a:xfrm>
            <a:off x="6522085" y="238760"/>
            <a:ext cx="1645285" cy="300355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85954" tIns="42977" rIns="85954" bIns="42977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b="1">
                <a:latin typeface="+mj-ea"/>
                <a:ea typeface="+mj-ea"/>
                <a:cs typeface="+mj-ea"/>
                <a:sym typeface="+mn-ea"/>
              </a:rPr>
              <a:t>关键技术实现</a:t>
            </a:r>
            <a:endParaRPr lang="en-US" altLang="zh-CN" sz="1400" b="1" dirty="0">
              <a:solidFill>
                <a:schemeClr val="tx1"/>
              </a:solidFill>
              <a:latin typeface="+mn-ea"/>
              <a:sym typeface="Arial" panose="020B0604020202020204" pitchFamily="34" charset="0"/>
            </a:endParaRPr>
          </a:p>
        </p:txBody>
      </p:sp>
      <p:sp>
        <p:nvSpPr>
          <p:cNvPr id="38" name="文本框 37"/>
          <p:cNvSpPr txBox="1"/>
          <p:nvPr userDrawn="1"/>
        </p:nvSpPr>
        <p:spPr>
          <a:xfrm>
            <a:off x="8449310" y="238760"/>
            <a:ext cx="1454785" cy="300355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85954" tIns="42977" rIns="85954" bIns="42977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  <a:sym typeface="Arial" panose="020B0604020202020204" pitchFamily="34" charset="0"/>
              </a:rPr>
              <a:t>测试与评估</a:t>
            </a:r>
          </a:p>
        </p:txBody>
      </p:sp>
      <p:sp>
        <p:nvSpPr>
          <p:cNvPr id="40" name="文本框 39"/>
          <p:cNvSpPr txBox="1"/>
          <p:nvPr userDrawn="1"/>
        </p:nvSpPr>
        <p:spPr>
          <a:xfrm>
            <a:off x="10186035" y="238760"/>
            <a:ext cx="1422400" cy="300355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85954" tIns="42977" rIns="85954" bIns="42977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  <a:sym typeface="Arial" panose="020B0604020202020204" pitchFamily="34" charset="0"/>
              </a:rPr>
              <a:t>总结与展望</a:t>
            </a:r>
          </a:p>
        </p:txBody>
      </p:sp>
      <p:sp>
        <p:nvSpPr>
          <p:cNvPr id="41" name="文本框 40"/>
          <p:cNvSpPr txBox="1"/>
          <p:nvPr userDrawn="1"/>
        </p:nvSpPr>
        <p:spPr>
          <a:xfrm>
            <a:off x="4594860" y="238760"/>
            <a:ext cx="1645285" cy="300355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85954" tIns="42977" rIns="85954" bIns="42977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  <a:sym typeface="Arial" panose="020B0604020202020204" pitchFamily="34" charset="0"/>
              </a:rPr>
              <a:t>系统架构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0" y="6740525"/>
            <a:ext cx="12192000" cy="11049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108" y="116581"/>
            <a:ext cx="1801624" cy="57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108" y="116581"/>
            <a:ext cx="1801624" cy="576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0" y="6740525"/>
            <a:ext cx="12192000" cy="11049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: 圆角 144"/>
          <p:cNvSpPr/>
          <p:nvPr userDrawn="1">
            <p:custDataLst>
              <p:tags r:id="rId1"/>
            </p:custDataLst>
          </p:nvPr>
        </p:nvSpPr>
        <p:spPr>
          <a:xfrm>
            <a:off x="3399790" y="177165"/>
            <a:ext cx="7611110" cy="5156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accent6"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OPPOSans B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44" name="矩形: 圆角 143"/>
          <p:cNvSpPr/>
          <p:nvPr userDrawn="1">
            <p:custDataLst>
              <p:tags r:id="rId2"/>
            </p:custDataLst>
          </p:nvPr>
        </p:nvSpPr>
        <p:spPr>
          <a:xfrm>
            <a:off x="3399790" y="176530"/>
            <a:ext cx="1739900" cy="50927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cs typeface="OPPOSans B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47" name="文本框 146"/>
          <p:cNvSpPr txBox="1"/>
          <p:nvPr userDrawn="1"/>
        </p:nvSpPr>
        <p:spPr>
          <a:xfrm>
            <a:off x="3486150" y="279400"/>
            <a:ext cx="1559560" cy="300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9B0000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85954" tIns="42977" rIns="85954" bIns="42977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团队成员分工</a:t>
            </a:r>
          </a:p>
        </p:txBody>
      </p:sp>
      <p:sp>
        <p:nvSpPr>
          <p:cNvPr id="37" name="文本框 36"/>
          <p:cNvSpPr txBox="1"/>
          <p:nvPr userDrawn="1"/>
        </p:nvSpPr>
        <p:spPr>
          <a:xfrm>
            <a:off x="8964295" y="278130"/>
            <a:ext cx="1645285" cy="300355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85954" tIns="42977" rIns="85954" bIns="42977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400" b="1" dirty="0">
                <a:solidFill>
                  <a:schemeClr val="tx1"/>
                </a:solidFill>
                <a:latin typeface="+mn-ea"/>
                <a:sym typeface="Arial" panose="020B0604020202020204" pitchFamily="34" charset="0"/>
              </a:rPr>
              <a:t>AI</a:t>
            </a:r>
            <a:r>
              <a:rPr lang="zh-CN" altLang="en-US" sz="1400" b="1" dirty="0">
                <a:solidFill>
                  <a:schemeClr val="tx1"/>
                </a:solidFill>
                <a:latin typeface="+mn-ea"/>
                <a:sym typeface="Arial" panose="020B0604020202020204" pitchFamily="34" charset="0"/>
              </a:rPr>
              <a:t>使用说明</a:t>
            </a:r>
          </a:p>
        </p:txBody>
      </p:sp>
      <p:sp>
        <p:nvSpPr>
          <p:cNvPr id="41" name="文本框 40"/>
          <p:cNvSpPr txBox="1"/>
          <p:nvPr userDrawn="1"/>
        </p:nvSpPr>
        <p:spPr>
          <a:xfrm>
            <a:off x="6382385" y="278130"/>
            <a:ext cx="1645285" cy="300355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85954" tIns="42977" rIns="85954" bIns="42977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  <a:sym typeface="Arial" panose="020B0604020202020204" pitchFamily="34" charset="0"/>
              </a:rPr>
              <a:t>项目进度安排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108" y="116581"/>
            <a:ext cx="1801624" cy="576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0" y="6740525"/>
            <a:ext cx="12192000" cy="11049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: 圆角 144"/>
          <p:cNvSpPr/>
          <p:nvPr userDrawn="1">
            <p:custDataLst>
              <p:tags r:id="rId1"/>
            </p:custDataLst>
          </p:nvPr>
        </p:nvSpPr>
        <p:spPr>
          <a:xfrm>
            <a:off x="3399790" y="177165"/>
            <a:ext cx="7611110" cy="5156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accent6"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OPPOSans B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44" name="矩形: 圆角 143"/>
          <p:cNvSpPr/>
          <p:nvPr userDrawn="1">
            <p:custDataLst>
              <p:tags r:id="rId2"/>
            </p:custDataLst>
          </p:nvPr>
        </p:nvSpPr>
        <p:spPr>
          <a:xfrm>
            <a:off x="6287770" y="183515"/>
            <a:ext cx="1739900" cy="50927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cs typeface="OPPOSans B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47" name="文本框 146"/>
          <p:cNvSpPr txBox="1"/>
          <p:nvPr userDrawn="1"/>
        </p:nvSpPr>
        <p:spPr>
          <a:xfrm>
            <a:off x="3486150" y="279400"/>
            <a:ext cx="1559560" cy="300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9B0000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85954" tIns="42977" rIns="85954" bIns="42977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  <a:sym typeface="Arial" panose="020B0604020202020204" pitchFamily="34" charset="0"/>
              </a:rPr>
              <a:t>团队成员分工</a:t>
            </a:r>
          </a:p>
        </p:txBody>
      </p:sp>
      <p:sp>
        <p:nvSpPr>
          <p:cNvPr id="37" name="文本框 36"/>
          <p:cNvSpPr txBox="1"/>
          <p:nvPr userDrawn="1"/>
        </p:nvSpPr>
        <p:spPr>
          <a:xfrm>
            <a:off x="8964295" y="278130"/>
            <a:ext cx="1645285" cy="300355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85954" tIns="42977" rIns="85954" bIns="42977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400" b="1" dirty="0">
                <a:solidFill>
                  <a:schemeClr val="tx1"/>
                </a:solidFill>
                <a:latin typeface="+mn-ea"/>
                <a:sym typeface="Arial" panose="020B0604020202020204" pitchFamily="34" charset="0"/>
              </a:rPr>
              <a:t>AI</a:t>
            </a:r>
            <a:r>
              <a:rPr lang="zh-CN" altLang="en-US" sz="1400" b="1" dirty="0">
                <a:solidFill>
                  <a:schemeClr val="tx1"/>
                </a:solidFill>
                <a:latin typeface="+mn-ea"/>
                <a:sym typeface="Arial" panose="020B0604020202020204" pitchFamily="34" charset="0"/>
              </a:rPr>
              <a:t>使用说明</a:t>
            </a:r>
          </a:p>
        </p:txBody>
      </p:sp>
      <p:sp>
        <p:nvSpPr>
          <p:cNvPr id="41" name="文本框 40"/>
          <p:cNvSpPr txBox="1"/>
          <p:nvPr userDrawn="1"/>
        </p:nvSpPr>
        <p:spPr>
          <a:xfrm>
            <a:off x="6388100" y="278130"/>
            <a:ext cx="1555115" cy="300355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lIns="85954" tIns="42977" rIns="85954" bIns="42977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项目进度安排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108" y="116581"/>
            <a:ext cx="1801624" cy="576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0" y="6740525"/>
            <a:ext cx="12192000" cy="11049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: 圆角 144"/>
          <p:cNvSpPr/>
          <p:nvPr userDrawn="1">
            <p:custDataLst>
              <p:tags r:id="rId1"/>
            </p:custDataLst>
          </p:nvPr>
        </p:nvSpPr>
        <p:spPr>
          <a:xfrm>
            <a:off x="3399790" y="177165"/>
            <a:ext cx="7611110" cy="5156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accent6"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OPPOSans B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44" name="矩形: 圆角 143"/>
          <p:cNvSpPr/>
          <p:nvPr userDrawn="1">
            <p:custDataLst>
              <p:tags r:id="rId2"/>
            </p:custDataLst>
          </p:nvPr>
        </p:nvSpPr>
        <p:spPr>
          <a:xfrm>
            <a:off x="9264650" y="177800"/>
            <a:ext cx="1739900" cy="50927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cs typeface="OPPOSans B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47" name="文本框 146"/>
          <p:cNvSpPr txBox="1"/>
          <p:nvPr userDrawn="1"/>
        </p:nvSpPr>
        <p:spPr>
          <a:xfrm>
            <a:off x="3486150" y="279400"/>
            <a:ext cx="1559560" cy="300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9B0000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85954" tIns="42977" rIns="85954" bIns="42977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  <a:sym typeface="Arial" panose="020B0604020202020204" pitchFamily="34" charset="0"/>
              </a:rPr>
              <a:t>团队成员分工</a:t>
            </a:r>
          </a:p>
        </p:txBody>
      </p:sp>
      <p:sp>
        <p:nvSpPr>
          <p:cNvPr id="37" name="文本框 36"/>
          <p:cNvSpPr txBox="1"/>
          <p:nvPr userDrawn="1"/>
        </p:nvSpPr>
        <p:spPr>
          <a:xfrm>
            <a:off x="9312275" y="279400"/>
            <a:ext cx="1645285" cy="300355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lIns="85954" tIns="42977" rIns="85954" bIns="42977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b="1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AI使用说明</a:t>
            </a:r>
          </a:p>
        </p:txBody>
      </p:sp>
      <p:sp>
        <p:nvSpPr>
          <p:cNvPr id="41" name="文本框 40"/>
          <p:cNvSpPr txBox="1"/>
          <p:nvPr userDrawn="1"/>
        </p:nvSpPr>
        <p:spPr>
          <a:xfrm>
            <a:off x="6296660" y="279400"/>
            <a:ext cx="1645285" cy="300355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85954" tIns="42977" rIns="85954" bIns="42977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  <a:sym typeface="Arial" panose="020B0604020202020204" pitchFamily="34" charset="0"/>
              </a:rPr>
              <a:t>项目进度安排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: 圆角 144"/>
          <p:cNvSpPr/>
          <p:nvPr userDrawn="1">
            <p:custDataLst>
              <p:tags r:id="rId1"/>
            </p:custDataLst>
          </p:nvPr>
        </p:nvSpPr>
        <p:spPr>
          <a:xfrm>
            <a:off x="2538730" y="137795"/>
            <a:ext cx="9228455" cy="5156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accent6"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OPPOSans B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44" name="矩形: 圆角 143"/>
          <p:cNvSpPr/>
          <p:nvPr userDrawn="1">
            <p:custDataLst>
              <p:tags r:id="rId2"/>
            </p:custDataLst>
          </p:nvPr>
        </p:nvSpPr>
        <p:spPr>
          <a:xfrm>
            <a:off x="2538730" y="137160"/>
            <a:ext cx="1739900" cy="50927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cs typeface="OPPOSans B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47" name="文本框 146"/>
          <p:cNvSpPr txBox="1"/>
          <p:nvPr userDrawn="1"/>
        </p:nvSpPr>
        <p:spPr>
          <a:xfrm>
            <a:off x="2625090" y="240030"/>
            <a:ext cx="1559560" cy="300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9B0000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85954" tIns="42977" rIns="85954" bIns="42977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项目概述</a:t>
            </a:r>
          </a:p>
        </p:txBody>
      </p:sp>
      <p:sp>
        <p:nvSpPr>
          <p:cNvPr id="37" name="文本框 36"/>
          <p:cNvSpPr txBox="1"/>
          <p:nvPr userDrawn="1"/>
        </p:nvSpPr>
        <p:spPr>
          <a:xfrm>
            <a:off x="6522085" y="238760"/>
            <a:ext cx="1645285" cy="300355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85954" tIns="42977" rIns="85954" bIns="42977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b="1">
                <a:latin typeface="+mj-ea"/>
                <a:ea typeface="+mj-ea"/>
                <a:cs typeface="+mj-ea"/>
                <a:sym typeface="+mn-ea"/>
              </a:rPr>
              <a:t>关键技术实现</a:t>
            </a:r>
            <a:endParaRPr lang="zh-CN" altLang="en-US" sz="1400" b="1" dirty="0">
              <a:solidFill>
                <a:schemeClr val="tx1"/>
              </a:solidFill>
              <a:latin typeface="+mn-ea"/>
              <a:sym typeface="Arial" panose="020B0604020202020204" pitchFamily="34" charset="0"/>
            </a:endParaRPr>
          </a:p>
        </p:txBody>
      </p:sp>
      <p:sp>
        <p:nvSpPr>
          <p:cNvPr id="38" name="文本框 37"/>
          <p:cNvSpPr txBox="1"/>
          <p:nvPr userDrawn="1"/>
        </p:nvSpPr>
        <p:spPr>
          <a:xfrm>
            <a:off x="8449310" y="238760"/>
            <a:ext cx="1454785" cy="300355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85954" tIns="42977" rIns="85954" bIns="42977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  <a:sym typeface="Arial" panose="020B0604020202020204" pitchFamily="34" charset="0"/>
              </a:rPr>
              <a:t>测试与评估</a:t>
            </a:r>
          </a:p>
        </p:txBody>
      </p:sp>
      <p:sp>
        <p:nvSpPr>
          <p:cNvPr id="40" name="文本框 39"/>
          <p:cNvSpPr txBox="1"/>
          <p:nvPr userDrawn="1"/>
        </p:nvSpPr>
        <p:spPr>
          <a:xfrm>
            <a:off x="10186035" y="238760"/>
            <a:ext cx="1422400" cy="300355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85954" tIns="42977" rIns="85954" bIns="42977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  <a:sym typeface="Arial" panose="020B0604020202020204" pitchFamily="34" charset="0"/>
              </a:rPr>
              <a:t>总结与展望</a:t>
            </a:r>
          </a:p>
        </p:txBody>
      </p:sp>
      <p:sp>
        <p:nvSpPr>
          <p:cNvPr id="41" name="文本框 40"/>
          <p:cNvSpPr txBox="1"/>
          <p:nvPr userDrawn="1"/>
        </p:nvSpPr>
        <p:spPr>
          <a:xfrm>
            <a:off x="4594860" y="238760"/>
            <a:ext cx="1645285" cy="300355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85954" tIns="42977" rIns="85954" bIns="42977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  <a:sym typeface="Arial" panose="020B0604020202020204" pitchFamily="34" charset="0"/>
              </a:rPr>
              <a:t>系统架构</a:t>
            </a:r>
          </a:p>
        </p:txBody>
      </p:sp>
      <p:sp>
        <p:nvSpPr>
          <p:cNvPr id="2" name="矩形 1"/>
          <p:cNvSpPr/>
          <p:nvPr userDrawn="1"/>
        </p:nvSpPr>
        <p:spPr>
          <a:xfrm>
            <a:off x="0" y="6740525"/>
            <a:ext cx="12192000" cy="11049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108" y="116581"/>
            <a:ext cx="1801624" cy="57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: 圆角 144"/>
          <p:cNvSpPr/>
          <p:nvPr userDrawn="1">
            <p:custDataLst>
              <p:tags r:id="rId1"/>
            </p:custDataLst>
          </p:nvPr>
        </p:nvSpPr>
        <p:spPr>
          <a:xfrm>
            <a:off x="2538730" y="137795"/>
            <a:ext cx="9228455" cy="5156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accent6"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OPPOSans B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44" name="矩形: 圆角 143"/>
          <p:cNvSpPr/>
          <p:nvPr userDrawn="1">
            <p:custDataLst>
              <p:tags r:id="rId2"/>
            </p:custDataLst>
          </p:nvPr>
        </p:nvSpPr>
        <p:spPr>
          <a:xfrm>
            <a:off x="4532630" y="137160"/>
            <a:ext cx="1739900" cy="50927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cs typeface="OPPOSans B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47" name="文本框 146"/>
          <p:cNvSpPr txBox="1"/>
          <p:nvPr userDrawn="1"/>
        </p:nvSpPr>
        <p:spPr>
          <a:xfrm>
            <a:off x="2573020" y="240030"/>
            <a:ext cx="1739900" cy="300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9B0000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85954" tIns="42977" rIns="85954" bIns="42977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  <a:sym typeface="Arial" panose="020B0604020202020204" pitchFamily="34" charset="0"/>
              </a:rPr>
              <a:t>项目概述</a:t>
            </a:r>
          </a:p>
        </p:txBody>
      </p:sp>
      <p:sp>
        <p:nvSpPr>
          <p:cNvPr id="37" name="文本框 36"/>
          <p:cNvSpPr txBox="1"/>
          <p:nvPr userDrawn="1"/>
        </p:nvSpPr>
        <p:spPr>
          <a:xfrm>
            <a:off x="6522085" y="238760"/>
            <a:ext cx="1645285" cy="300355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85954" tIns="42977" rIns="85954" bIns="42977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b="1">
                <a:latin typeface="+mj-ea"/>
                <a:ea typeface="+mj-ea"/>
                <a:cs typeface="+mj-ea"/>
                <a:sym typeface="+mn-ea"/>
              </a:rPr>
              <a:t>关键技术实现</a:t>
            </a:r>
            <a:endParaRPr lang="zh-CN" altLang="en-US" sz="1400" b="1" dirty="0">
              <a:solidFill>
                <a:schemeClr val="tx1"/>
              </a:solidFill>
              <a:latin typeface="+mn-ea"/>
              <a:sym typeface="Arial" panose="020B0604020202020204" pitchFamily="34" charset="0"/>
            </a:endParaRPr>
          </a:p>
        </p:txBody>
      </p:sp>
      <p:sp>
        <p:nvSpPr>
          <p:cNvPr id="38" name="文本框 37"/>
          <p:cNvSpPr txBox="1"/>
          <p:nvPr userDrawn="1"/>
        </p:nvSpPr>
        <p:spPr>
          <a:xfrm>
            <a:off x="8449310" y="238760"/>
            <a:ext cx="1454785" cy="300355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85954" tIns="42977" rIns="85954" bIns="42977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  <a:sym typeface="Arial" panose="020B0604020202020204" pitchFamily="34" charset="0"/>
              </a:rPr>
              <a:t>测试与评估</a:t>
            </a:r>
          </a:p>
        </p:txBody>
      </p:sp>
      <p:sp>
        <p:nvSpPr>
          <p:cNvPr id="40" name="文本框 39"/>
          <p:cNvSpPr txBox="1"/>
          <p:nvPr userDrawn="1"/>
        </p:nvSpPr>
        <p:spPr>
          <a:xfrm>
            <a:off x="10186035" y="238760"/>
            <a:ext cx="1422400" cy="300355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85954" tIns="42977" rIns="85954" bIns="42977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  <a:sym typeface="Arial" panose="020B0604020202020204" pitchFamily="34" charset="0"/>
              </a:rPr>
              <a:t>总结与展望</a:t>
            </a:r>
          </a:p>
        </p:txBody>
      </p:sp>
      <p:sp>
        <p:nvSpPr>
          <p:cNvPr id="41" name="文本框 40"/>
          <p:cNvSpPr txBox="1"/>
          <p:nvPr userDrawn="1"/>
        </p:nvSpPr>
        <p:spPr>
          <a:xfrm>
            <a:off x="4684395" y="238760"/>
            <a:ext cx="1466850" cy="300355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lIns="85954" tIns="42977" rIns="85954" bIns="42977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系统架构</a:t>
            </a:r>
          </a:p>
        </p:txBody>
      </p:sp>
      <p:sp>
        <p:nvSpPr>
          <p:cNvPr id="4" name="矩形 3"/>
          <p:cNvSpPr/>
          <p:nvPr userDrawn="1"/>
        </p:nvSpPr>
        <p:spPr>
          <a:xfrm>
            <a:off x="0" y="6740525"/>
            <a:ext cx="12192000" cy="11049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108" y="116581"/>
            <a:ext cx="1801624" cy="57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: 圆角 144"/>
          <p:cNvSpPr/>
          <p:nvPr userDrawn="1">
            <p:custDataLst>
              <p:tags r:id="rId1"/>
            </p:custDataLst>
          </p:nvPr>
        </p:nvSpPr>
        <p:spPr>
          <a:xfrm>
            <a:off x="2538730" y="137795"/>
            <a:ext cx="9228455" cy="5156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accent6"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OPPOSans B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44" name="矩形: 圆角 143"/>
          <p:cNvSpPr/>
          <p:nvPr userDrawn="1">
            <p:custDataLst>
              <p:tags r:id="rId2"/>
            </p:custDataLst>
          </p:nvPr>
        </p:nvSpPr>
        <p:spPr>
          <a:xfrm>
            <a:off x="6482080" y="137160"/>
            <a:ext cx="1739900" cy="50927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cs typeface="OPPOSans B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47" name="文本框 146"/>
          <p:cNvSpPr txBox="1"/>
          <p:nvPr userDrawn="1"/>
        </p:nvSpPr>
        <p:spPr>
          <a:xfrm>
            <a:off x="2573020" y="240030"/>
            <a:ext cx="1739900" cy="300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9B0000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85954" tIns="42977" rIns="85954" bIns="42977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  <a:sym typeface="Arial" panose="020B0604020202020204" pitchFamily="34" charset="0"/>
              </a:rPr>
              <a:t>项目概述</a:t>
            </a:r>
          </a:p>
        </p:txBody>
      </p:sp>
      <p:sp>
        <p:nvSpPr>
          <p:cNvPr id="37" name="文本框 36"/>
          <p:cNvSpPr txBox="1"/>
          <p:nvPr userDrawn="1"/>
        </p:nvSpPr>
        <p:spPr>
          <a:xfrm>
            <a:off x="6522085" y="238760"/>
            <a:ext cx="1645285" cy="300355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lIns="85954" tIns="42977" rIns="85954" bIns="42977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b="1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关键技术实现</a:t>
            </a:r>
            <a:endParaRPr lang="zh-CN" altLang="en-US" sz="1400" b="1" dirty="0">
              <a:solidFill>
                <a:schemeClr val="bg1"/>
              </a:solidFill>
              <a:latin typeface="+mj-ea"/>
              <a:ea typeface="+mj-ea"/>
              <a:cs typeface="+mj-ea"/>
              <a:sym typeface="+mn-ea"/>
            </a:endParaRPr>
          </a:p>
        </p:txBody>
      </p:sp>
      <p:sp>
        <p:nvSpPr>
          <p:cNvPr id="38" name="文本框 37"/>
          <p:cNvSpPr txBox="1"/>
          <p:nvPr userDrawn="1"/>
        </p:nvSpPr>
        <p:spPr>
          <a:xfrm>
            <a:off x="8449310" y="238760"/>
            <a:ext cx="1454785" cy="300355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85954" tIns="42977" rIns="85954" bIns="42977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  <a:sym typeface="Arial" panose="020B0604020202020204" pitchFamily="34" charset="0"/>
              </a:rPr>
              <a:t>测试与评估</a:t>
            </a:r>
          </a:p>
        </p:txBody>
      </p:sp>
      <p:sp>
        <p:nvSpPr>
          <p:cNvPr id="40" name="文本框 39"/>
          <p:cNvSpPr txBox="1"/>
          <p:nvPr userDrawn="1"/>
        </p:nvSpPr>
        <p:spPr>
          <a:xfrm>
            <a:off x="10186035" y="238760"/>
            <a:ext cx="1422400" cy="300355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85954" tIns="42977" rIns="85954" bIns="42977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  <a:sym typeface="Arial" panose="020B0604020202020204" pitchFamily="34" charset="0"/>
              </a:rPr>
              <a:t>总结与展望</a:t>
            </a:r>
          </a:p>
        </p:txBody>
      </p:sp>
      <p:sp>
        <p:nvSpPr>
          <p:cNvPr id="41" name="文本框 40"/>
          <p:cNvSpPr txBox="1"/>
          <p:nvPr userDrawn="1"/>
        </p:nvSpPr>
        <p:spPr>
          <a:xfrm>
            <a:off x="4594860" y="238760"/>
            <a:ext cx="1645285" cy="300355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lIns="85954" tIns="42977" rIns="85954" bIns="42977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  <a:sym typeface="Arial" panose="020B0604020202020204" pitchFamily="34" charset="0"/>
              </a:rPr>
              <a:t>系统架构</a:t>
            </a:r>
          </a:p>
        </p:txBody>
      </p:sp>
      <p:sp>
        <p:nvSpPr>
          <p:cNvPr id="4" name="矩形 3"/>
          <p:cNvSpPr/>
          <p:nvPr userDrawn="1"/>
        </p:nvSpPr>
        <p:spPr>
          <a:xfrm>
            <a:off x="0" y="6740525"/>
            <a:ext cx="12192000" cy="11049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108" y="116581"/>
            <a:ext cx="1801624" cy="57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: 圆角 144"/>
          <p:cNvSpPr/>
          <p:nvPr userDrawn="1">
            <p:custDataLst>
              <p:tags r:id="rId1"/>
            </p:custDataLst>
          </p:nvPr>
        </p:nvSpPr>
        <p:spPr>
          <a:xfrm>
            <a:off x="2538730" y="137795"/>
            <a:ext cx="9228455" cy="5156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accent6"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OPPOSans B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44" name="矩形: 圆角 143"/>
          <p:cNvSpPr/>
          <p:nvPr userDrawn="1">
            <p:custDataLst>
              <p:tags r:id="rId2"/>
            </p:custDataLst>
          </p:nvPr>
        </p:nvSpPr>
        <p:spPr>
          <a:xfrm>
            <a:off x="8310880" y="137160"/>
            <a:ext cx="1739900" cy="50927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cs typeface="OPPOSans B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47" name="文本框 146"/>
          <p:cNvSpPr txBox="1"/>
          <p:nvPr userDrawn="1"/>
        </p:nvSpPr>
        <p:spPr>
          <a:xfrm>
            <a:off x="2573020" y="240030"/>
            <a:ext cx="1739900" cy="300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9B0000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85954" tIns="42977" rIns="85954" bIns="42977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  <a:sym typeface="Arial" panose="020B0604020202020204" pitchFamily="34" charset="0"/>
              </a:rPr>
              <a:t>项目概述</a:t>
            </a:r>
          </a:p>
        </p:txBody>
      </p:sp>
      <p:sp>
        <p:nvSpPr>
          <p:cNvPr id="37" name="文本框 36"/>
          <p:cNvSpPr txBox="1"/>
          <p:nvPr userDrawn="1"/>
        </p:nvSpPr>
        <p:spPr>
          <a:xfrm>
            <a:off x="6522085" y="238760"/>
            <a:ext cx="1645285" cy="300355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lIns="85954" tIns="42977" rIns="85954" bIns="42977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b="1">
                <a:latin typeface="+mj-ea"/>
                <a:ea typeface="+mj-ea"/>
                <a:cs typeface="+mj-ea"/>
                <a:sym typeface="+mn-ea"/>
              </a:rPr>
              <a:t>关键技术实现</a:t>
            </a:r>
            <a:endParaRPr lang="zh-CN" altLang="en-US" sz="1400" b="1" dirty="0">
              <a:solidFill>
                <a:schemeClr val="tx1"/>
              </a:solidFill>
              <a:latin typeface="+mn-ea"/>
              <a:sym typeface="Arial" panose="020B0604020202020204" pitchFamily="34" charset="0"/>
            </a:endParaRPr>
          </a:p>
        </p:txBody>
      </p:sp>
      <p:sp>
        <p:nvSpPr>
          <p:cNvPr id="38" name="文本框 37"/>
          <p:cNvSpPr txBox="1"/>
          <p:nvPr userDrawn="1"/>
        </p:nvSpPr>
        <p:spPr>
          <a:xfrm>
            <a:off x="8449310" y="238760"/>
            <a:ext cx="1454785" cy="300355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lIns="85954" tIns="42977" rIns="85954" bIns="42977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测试与评估</a:t>
            </a:r>
          </a:p>
        </p:txBody>
      </p:sp>
      <p:sp>
        <p:nvSpPr>
          <p:cNvPr id="40" name="文本框 39"/>
          <p:cNvSpPr txBox="1"/>
          <p:nvPr userDrawn="1"/>
        </p:nvSpPr>
        <p:spPr>
          <a:xfrm>
            <a:off x="10186035" y="238760"/>
            <a:ext cx="1422400" cy="300355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85954" tIns="42977" rIns="85954" bIns="42977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  <a:sym typeface="Arial" panose="020B0604020202020204" pitchFamily="34" charset="0"/>
              </a:rPr>
              <a:t>总结与展望</a:t>
            </a:r>
          </a:p>
        </p:txBody>
      </p:sp>
      <p:sp>
        <p:nvSpPr>
          <p:cNvPr id="41" name="文本框 40"/>
          <p:cNvSpPr txBox="1"/>
          <p:nvPr userDrawn="1"/>
        </p:nvSpPr>
        <p:spPr>
          <a:xfrm>
            <a:off x="4594860" y="238760"/>
            <a:ext cx="1645285" cy="300355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lIns="85954" tIns="42977" rIns="85954" bIns="42977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  <a:sym typeface="Arial" panose="020B0604020202020204" pitchFamily="34" charset="0"/>
              </a:rPr>
              <a:t>系统架构</a:t>
            </a:r>
          </a:p>
        </p:txBody>
      </p:sp>
      <p:sp>
        <p:nvSpPr>
          <p:cNvPr id="4" name="矩形 3"/>
          <p:cNvSpPr/>
          <p:nvPr userDrawn="1"/>
        </p:nvSpPr>
        <p:spPr>
          <a:xfrm>
            <a:off x="0" y="6740525"/>
            <a:ext cx="12192000" cy="11049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108" y="116581"/>
            <a:ext cx="1801624" cy="57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: 圆角 144"/>
          <p:cNvSpPr/>
          <p:nvPr userDrawn="1">
            <p:custDataLst>
              <p:tags r:id="rId1"/>
            </p:custDataLst>
          </p:nvPr>
        </p:nvSpPr>
        <p:spPr>
          <a:xfrm>
            <a:off x="2538730" y="137795"/>
            <a:ext cx="9228455" cy="5156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accent6"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OPPOSans B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44" name="矩形: 圆角 143"/>
          <p:cNvSpPr/>
          <p:nvPr userDrawn="1">
            <p:custDataLst>
              <p:tags r:id="rId2"/>
            </p:custDataLst>
          </p:nvPr>
        </p:nvSpPr>
        <p:spPr>
          <a:xfrm>
            <a:off x="10025380" y="137160"/>
            <a:ext cx="1739900" cy="50927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cs typeface="OPPOSans B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47" name="文本框 146"/>
          <p:cNvSpPr txBox="1"/>
          <p:nvPr userDrawn="1"/>
        </p:nvSpPr>
        <p:spPr>
          <a:xfrm>
            <a:off x="2573020" y="240030"/>
            <a:ext cx="1739900" cy="300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9B0000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85954" tIns="42977" rIns="85954" bIns="42977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  <a:sym typeface="Arial" panose="020B0604020202020204" pitchFamily="34" charset="0"/>
              </a:rPr>
              <a:t>项目概述</a:t>
            </a:r>
          </a:p>
        </p:txBody>
      </p:sp>
      <p:sp>
        <p:nvSpPr>
          <p:cNvPr id="37" name="文本框 36"/>
          <p:cNvSpPr txBox="1"/>
          <p:nvPr userDrawn="1"/>
        </p:nvSpPr>
        <p:spPr>
          <a:xfrm>
            <a:off x="6522085" y="238760"/>
            <a:ext cx="1645285" cy="300355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lIns="85954" tIns="42977" rIns="85954" bIns="42977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b="1">
                <a:latin typeface="+mj-ea"/>
                <a:ea typeface="+mj-ea"/>
                <a:cs typeface="+mj-ea"/>
                <a:sym typeface="+mn-ea"/>
              </a:rPr>
              <a:t>关键技术实现</a:t>
            </a:r>
            <a:endParaRPr lang="zh-CN" altLang="en-US" sz="1400" b="1" dirty="0">
              <a:solidFill>
                <a:schemeClr val="tx1"/>
              </a:solidFill>
              <a:latin typeface="+mn-ea"/>
              <a:sym typeface="Arial" panose="020B0604020202020204" pitchFamily="34" charset="0"/>
            </a:endParaRPr>
          </a:p>
        </p:txBody>
      </p:sp>
      <p:sp>
        <p:nvSpPr>
          <p:cNvPr id="38" name="文本框 37"/>
          <p:cNvSpPr txBox="1"/>
          <p:nvPr userDrawn="1"/>
        </p:nvSpPr>
        <p:spPr>
          <a:xfrm>
            <a:off x="8449310" y="238760"/>
            <a:ext cx="1454785" cy="300355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lIns="85954" tIns="42977" rIns="85954" bIns="42977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j-ea"/>
                <a:ea typeface="+mj-ea"/>
                <a:cs typeface="+mj-ea"/>
                <a:sym typeface="+mn-ea"/>
              </a:rPr>
              <a:t>测试与评估</a:t>
            </a:r>
          </a:p>
        </p:txBody>
      </p:sp>
      <p:sp>
        <p:nvSpPr>
          <p:cNvPr id="40" name="文本框 39"/>
          <p:cNvSpPr txBox="1"/>
          <p:nvPr userDrawn="1"/>
        </p:nvSpPr>
        <p:spPr>
          <a:xfrm>
            <a:off x="10186035" y="238760"/>
            <a:ext cx="1422400" cy="300355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lIns="85954" tIns="42977" rIns="85954" bIns="42977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总结与展望</a:t>
            </a:r>
          </a:p>
        </p:txBody>
      </p:sp>
      <p:sp>
        <p:nvSpPr>
          <p:cNvPr id="41" name="文本框 40"/>
          <p:cNvSpPr txBox="1"/>
          <p:nvPr userDrawn="1"/>
        </p:nvSpPr>
        <p:spPr>
          <a:xfrm>
            <a:off x="4594860" y="238760"/>
            <a:ext cx="1645285" cy="300355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lIns="85954" tIns="42977" rIns="85954" bIns="42977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  <a:sym typeface="Arial" panose="020B0604020202020204" pitchFamily="34" charset="0"/>
              </a:rPr>
              <a:t>系统架构</a:t>
            </a:r>
          </a:p>
        </p:txBody>
      </p:sp>
      <p:sp>
        <p:nvSpPr>
          <p:cNvPr id="4" name="矩形 3"/>
          <p:cNvSpPr/>
          <p:nvPr userDrawn="1"/>
        </p:nvSpPr>
        <p:spPr>
          <a:xfrm>
            <a:off x="0" y="6740525"/>
            <a:ext cx="12192000" cy="11049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108" y="116581"/>
            <a:ext cx="1801624" cy="57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: 圆角 144"/>
          <p:cNvSpPr/>
          <p:nvPr userDrawn="1">
            <p:custDataLst>
              <p:tags r:id="rId1"/>
            </p:custDataLst>
          </p:nvPr>
        </p:nvSpPr>
        <p:spPr>
          <a:xfrm>
            <a:off x="2538730" y="137795"/>
            <a:ext cx="9228455" cy="5156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accent6"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OPPOSans B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44" name="矩形: 圆角 143"/>
          <p:cNvSpPr/>
          <p:nvPr userDrawn="1">
            <p:custDataLst>
              <p:tags r:id="rId2"/>
            </p:custDataLst>
          </p:nvPr>
        </p:nvSpPr>
        <p:spPr>
          <a:xfrm>
            <a:off x="2538730" y="137160"/>
            <a:ext cx="1739900" cy="50927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cs typeface="OPPOSans B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47" name="文本框 146"/>
          <p:cNvSpPr txBox="1"/>
          <p:nvPr userDrawn="1"/>
        </p:nvSpPr>
        <p:spPr>
          <a:xfrm>
            <a:off x="2625090" y="240030"/>
            <a:ext cx="1559560" cy="300355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85954" tIns="42977" rIns="85954" bIns="42977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项目概述</a:t>
            </a:r>
          </a:p>
        </p:txBody>
      </p:sp>
      <p:sp>
        <p:nvSpPr>
          <p:cNvPr id="37" name="文本框 36"/>
          <p:cNvSpPr txBox="1"/>
          <p:nvPr userDrawn="1"/>
        </p:nvSpPr>
        <p:spPr>
          <a:xfrm>
            <a:off x="6522085" y="238760"/>
            <a:ext cx="1645285" cy="300355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85954" tIns="42977" rIns="85954" bIns="42977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b="1">
                <a:latin typeface="+mj-ea"/>
                <a:ea typeface="+mj-ea"/>
                <a:cs typeface="+mj-ea"/>
                <a:sym typeface="+mn-ea"/>
              </a:rPr>
              <a:t>关键技术实现</a:t>
            </a:r>
            <a:endParaRPr lang="en-US" altLang="zh-CN" sz="1400" b="1" dirty="0">
              <a:solidFill>
                <a:schemeClr val="tx1"/>
              </a:solidFill>
              <a:latin typeface="+mn-ea"/>
              <a:sym typeface="Arial" panose="020B0604020202020204" pitchFamily="34" charset="0"/>
            </a:endParaRPr>
          </a:p>
        </p:txBody>
      </p:sp>
      <p:sp>
        <p:nvSpPr>
          <p:cNvPr id="38" name="文本框 37"/>
          <p:cNvSpPr txBox="1"/>
          <p:nvPr userDrawn="1"/>
        </p:nvSpPr>
        <p:spPr>
          <a:xfrm>
            <a:off x="8449310" y="238760"/>
            <a:ext cx="1454785" cy="300355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85954" tIns="42977" rIns="85954" bIns="42977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  <a:sym typeface="Arial" panose="020B0604020202020204" pitchFamily="34" charset="0"/>
              </a:rPr>
              <a:t>测试与评估</a:t>
            </a:r>
          </a:p>
        </p:txBody>
      </p:sp>
      <p:sp>
        <p:nvSpPr>
          <p:cNvPr id="40" name="文本框 39"/>
          <p:cNvSpPr txBox="1"/>
          <p:nvPr userDrawn="1"/>
        </p:nvSpPr>
        <p:spPr>
          <a:xfrm>
            <a:off x="10186035" y="238760"/>
            <a:ext cx="1422400" cy="300355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85954" tIns="42977" rIns="85954" bIns="42977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  <a:sym typeface="Arial" panose="020B0604020202020204" pitchFamily="34" charset="0"/>
              </a:rPr>
              <a:t>总结与展望</a:t>
            </a:r>
          </a:p>
        </p:txBody>
      </p:sp>
      <p:sp>
        <p:nvSpPr>
          <p:cNvPr id="41" name="文本框 40"/>
          <p:cNvSpPr txBox="1"/>
          <p:nvPr userDrawn="1"/>
        </p:nvSpPr>
        <p:spPr>
          <a:xfrm>
            <a:off x="4594860" y="238760"/>
            <a:ext cx="1645285" cy="300355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85954" tIns="42977" rIns="85954" bIns="42977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  <a:sym typeface="Arial" panose="020B0604020202020204" pitchFamily="34" charset="0"/>
              </a:rPr>
              <a:t>系统架构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0" y="6740525"/>
            <a:ext cx="12192000" cy="11049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108" y="116581"/>
            <a:ext cx="1801624" cy="57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40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51.xml"/><Relationship Id="rId13" Type="http://schemas.openxmlformats.org/officeDocument/2006/relationships/slideLayout" Target="../slideLayouts/slideLayout10.xml"/><Relationship Id="rId3" Type="http://schemas.openxmlformats.org/officeDocument/2006/relationships/tags" Target="../tags/tag46.xml"/><Relationship Id="rId7" Type="http://schemas.openxmlformats.org/officeDocument/2006/relationships/tags" Target="../tags/tag50.xml"/><Relationship Id="rId12" Type="http://schemas.openxmlformats.org/officeDocument/2006/relationships/tags" Target="../tags/tag55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11" Type="http://schemas.openxmlformats.org/officeDocument/2006/relationships/tags" Target="../tags/tag54.xml"/><Relationship Id="rId5" Type="http://schemas.openxmlformats.org/officeDocument/2006/relationships/tags" Target="../tags/tag48.xml"/><Relationship Id="rId15" Type="http://schemas.openxmlformats.org/officeDocument/2006/relationships/image" Target="../media/image1.png"/><Relationship Id="rId10" Type="http://schemas.openxmlformats.org/officeDocument/2006/relationships/tags" Target="../tags/tag53.xml"/><Relationship Id="rId4" Type="http://schemas.openxmlformats.org/officeDocument/2006/relationships/tags" Target="../tags/tag47.xml"/><Relationship Id="rId9" Type="http://schemas.openxmlformats.org/officeDocument/2006/relationships/tags" Target="../tags/tag52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64.xml"/><Relationship Id="rId3" Type="http://schemas.openxmlformats.org/officeDocument/2006/relationships/tags" Target="../tags/tag59.xml"/><Relationship Id="rId7" Type="http://schemas.openxmlformats.org/officeDocument/2006/relationships/tags" Target="../tags/tag63.xml"/><Relationship Id="rId12" Type="http://schemas.openxmlformats.org/officeDocument/2006/relationships/notesSlide" Target="../notesSlides/notesSlide7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tags" Target="../tags/tag62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61.xml"/><Relationship Id="rId10" Type="http://schemas.openxmlformats.org/officeDocument/2006/relationships/tags" Target="../tags/tag66.xml"/><Relationship Id="rId4" Type="http://schemas.openxmlformats.org/officeDocument/2006/relationships/tags" Target="../tags/tag60.xml"/><Relationship Id="rId9" Type="http://schemas.openxmlformats.org/officeDocument/2006/relationships/tags" Target="../tags/tag6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702945" y="1414780"/>
            <a:ext cx="1076960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4400" dirty="0">
                <a:ln w="0"/>
                <a:uFillTx/>
                <a:latin typeface="方正小标宋简体" panose="03000509000000000000" charset="-122"/>
                <a:ea typeface="方正小标宋简体" panose="03000509000000000000" charset="-122"/>
              </a:rPr>
              <a:t>Veriskein</a:t>
            </a:r>
          </a:p>
        </p:txBody>
      </p:sp>
      <p:sp>
        <p:nvSpPr>
          <p:cNvPr id="10" name="矩形 9"/>
          <p:cNvSpPr/>
          <p:nvPr/>
        </p:nvSpPr>
        <p:spPr>
          <a:xfrm>
            <a:off x="0" y="0"/>
            <a:ext cx="12192000" cy="6823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连接符 24"/>
          <p:cNvCxnSpPr/>
          <p:nvPr/>
        </p:nvCxnSpPr>
        <p:spPr>
          <a:xfrm flipH="1">
            <a:off x="8239125" y="1115060"/>
            <a:ext cx="3952875" cy="0"/>
          </a:xfrm>
          <a:prstGeom prst="line">
            <a:avLst/>
          </a:prstGeom>
          <a:solidFill>
            <a:srgbClr val="9B0000"/>
          </a:solidFill>
          <a:ln>
            <a:gradFill>
              <a:gsLst>
                <a:gs pos="0">
                  <a:schemeClr val="accent6"/>
                </a:gs>
                <a:gs pos="50000">
                  <a:schemeClr val="accent6"/>
                </a:gs>
                <a:gs pos="100000">
                  <a:schemeClr val="bg1">
                    <a:alpha val="50000"/>
                  </a:schemeClr>
                </a:gs>
              </a:gsLst>
              <a:lin ang="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 flipH="1">
            <a:off x="8239125" y="1177925"/>
            <a:ext cx="1293495" cy="15621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连接符 29"/>
          <p:cNvCxnSpPr/>
          <p:nvPr/>
        </p:nvCxnSpPr>
        <p:spPr>
          <a:xfrm flipV="1">
            <a:off x="-9525" y="4479290"/>
            <a:ext cx="3952875" cy="0"/>
          </a:xfrm>
          <a:prstGeom prst="line">
            <a:avLst/>
          </a:prstGeom>
          <a:solidFill>
            <a:srgbClr val="9B0000"/>
          </a:solidFill>
          <a:ln>
            <a:gradFill>
              <a:gsLst>
                <a:gs pos="0">
                  <a:schemeClr val="accent6"/>
                </a:gs>
                <a:gs pos="50000">
                  <a:schemeClr val="accent6"/>
                </a:gs>
                <a:gs pos="100000">
                  <a:schemeClr val="bg1">
                    <a:alpha val="50000"/>
                  </a:schemeClr>
                </a:gs>
              </a:gsLst>
              <a:lin ang="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/>
          <p:cNvSpPr/>
          <p:nvPr/>
        </p:nvSpPr>
        <p:spPr>
          <a:xfrm flipV="1">
            <a:off x="2649855" y="4260215"/>
            <a:ext cx="1293495" cy="15621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615315" y="2332990"/>
            <a:ext cx="11141710" cy="6858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36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基于</a:t>
            </a:r>
            <a:r>
              <a:rPr lang="en-US" altLang="zh-CN" sz="36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eBPF </a:t>
            </a:r>
            <a:r>
              <a:rPr lang="zh-CN" altLang="en-US" sz="36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的非侵入式多智能体运行时异常监测系统</a:t>
            </a:r>
          </a:p>
        </p:txBody>
      </p:sp>
      <p:sp>
        <p:nvSpPr>
          <p:cNvPr id="51" name="文本框 50"/>
          <p:cNvSpPr txBox="1"/>
          <p:nvPr/>
        </p:nvSpPr>
        <p:spPr>
          <a:xfrm>
            <a:off x="2092325" y="3168015"/>
            <a:ext cx="8187690" cy="10642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 non-invasive runtime anomaly monitor for multi-agent AI systems powered by eBPF</a:t>
            </a:r>
          </a:p>
        </p:txBody>
      </p:sp>
      <p:sp>
        <p:nvSpPr>
          <p:cNvPr id="47" name="文本框 46"/>
          <p:cNvSpPr txBox="1"/>
          <p:nvPr>
            <p:custDataLst>
              <p:tags r:id="rId1"/>
            </p:custDataLst>
          </p:nvPr>
        </p:nvSpPr>
        <p:spPr>
          <a:xfrm>
            <a:off x="824230" y="4898390"/>
            <a:ext cx="3041015" cy="584200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gradFill>
                  <a:gsLst>
                    <a:gs pos="0">
                      <a:srgbClr val="9B0000"/>
                    </a:gs>
                    <a:gs pos="99000">
                      <a:srgbClr val="CD8080">
                        <a:alpha val="100000"/>
                      </a:srgbClr>
                    </a:gs>
                    <a:gs pos="0">
                      <a:srgbClr val="9B0000"/>
                    </a:gs>
                    <a:gs pos="0">
                      <a:schemeClr val="bg1">
                        <a:lumMod val="82000"/>
                        <a:lumOff val="18000"/>
                      </a:schemeClr>
                    </a:gs>
                  </a:gsLst>
                  <a:lin ang="10800000" scaled="0"/>
                </a:gradFill>
              </a14:hiddenFill>
            </a:ext>
          </a:extLst>
        </p:spPr>
        <p:txBody>
          <a:bodyPr wrap="square" rtlCol="0">
            <a:noAutofit/>
          </a:bodyPr>
          <a:lstStyle/>
          <a:p>
            <a:endParaRPr lang="en-US" altLang="zh-CN" b="1">
              <a:solidFill>
                <a:schemeClr val="tx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55" name="文本框 54"/>
          <p:cNvSpPr txBox="1"/>
          <p:nvPr>
            <p:custDataLst>
              <p:tags r:id="rId2"/>
            </p:custDataLst>
          </p:nvPr>
        </p:nvSpPr>
        <p:spPr>
          <a:xfrm>
            <a:off x="911860" y="4898390"/>
            <a:ext cx="2865755" cy="476849"/>
          </a:xfrm>
          <a:prstGeom prst="roundRect">
            <a:avLst>
              <a:gd name="adj" fmla="val 50000"/>
            </a:avLst>
          </a:prstGeom>
          <a:noFill/>
          <a:ln>
            <a:gradFill>
              <a:gsLst>
                <a:gs pos="0">
                  <a:schemeClr val="accent6"/>
                </a:gs>
                <a:gs pos="100000">
                  <a:schemeClr val="bg1"/>
                </a:gs>
              </a:gsLst>
              <a:lin ang="16200000" scaled="1"/>
              <a:tileRect/>
            </a:gradFill>
          </a:ln>
          <a:extLst>
            <a:ext uri="{909E8E84-426E-40DD-AFC4-6F175D3DCCD1}">
              <a14:hiddenFill xmlns:a14="http://schemas.microsoft.com/office/drawing/2010/main">
                <a:solidFill>
                  <a:srgbClr val="9B0000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>
                <a:solidFill>
                  <a:schemeClr val="tx1"/>
                </a:solidFill>
                <a:latin typeface="+mj-ea"/>
                <a:ea typeface="+mj-ea"/>
                <a:cs typeface="+mj-ea"/>
              </a:rPr>
              <a:t>队伍名称：这样也队</a:t>
            </a:r>
            <a:endParaRPr lang="en-US" altLang="zh-CN" sz="1600" b="1">
              <a:solidFill>
                <a:schemeClr val="tx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57" name="文本框 56"/>
          <p:cNvSpPr txBox="1"/>
          <p:nvPr>
            <p:custDataLst>
              <p:tags r:id="rId3"/>
            </p:custDataLst>
          </p:nvPr>
        </p:nvSpPr>
        <p:spPr>
          <a:xfrm>
            <a:off x="4530725" y="4898390"/>
            <a:ext cx="3041015" cy="584200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gradFill>
                  <a:gsLst>
                    <a:gs pos="0">
                      <a:srgbClr val="9B0000"/>
                    </a:gs>
                    <a:gs pos="99000">
                      <a:srgbClr val="CD8080">
                        <a:alpha val="100000"/>
                      </a:srgbClr>
                    </a:gs>
                    <a:gs pos="0">
                      <a:srgbClr val="9B0000"/>
                    </a:gs>
                    <a:gs pos="0">
                      <a:schemeClr val="bg1">
                        <a:lumMod val="82000"/>
                        <a:lumOff val="18000"/>
                      </a:schemeClr>
                    </a:gs>
                  </a:gsLst>
                  <a:lin ang="10800000" scaled="0"/>
                </a:gradFill>
              </a14:hiddenFill>
            </a:ext>
          </a:extLst>
        </p:spPr>
        <p:txBody>
          <a:bodyPr wrap="square" rtlCol="0">
            <a:noAutofit/>
          </a:bodyPr>
          <a:lstStyle/>
          <a:p>
            <a:endParaRPr lang="en-US" altLang="zh-CN" b="1">
              <a:solidFill>
                <a:schemeClr val="tx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59" name="文本框 58"/>
          <p:cNvSpPr txBox="1"/>
          <p:nvPr>
            <p:custDataLst>
              <p:tags r:id="rId4"/>
            </p:custDataLst>
          </p:nvPr>
        </p:nvSpPr>
        <p:spPr>
          <a:xfrm>
            <a:off x="4618355" y="4898390"/>
            <a:ext cx="2865755" cy="476849"/>
          </a:xfrm>
          <a:prstGeom prst="roundRect">
            <a:avLst>
              <a:gd name="adj" fmla="val 50000"/>
            </a:avLst>
          </a:prstGeom>
          <a:noFill/>
          <a:ln>
            <a:gradFill>
              <a:gsLst>
                <a:gs pos="0">
                  <a:schemeClr val="accent6"/>
                </a:gs>
                <a:gs pos="100000">
                  <a:schemeClr val="bg1"/>
                </a:gs>
              </a:gsLst>
              <a:lin ang="16200000" scaled="1"/>
              <a:tileRect/>
            </a:gradFill>
          </a:ln>
          <a:extLst>
            <a:ext uri="{909E8E84-426E-40DD-AFC4-6F175D3DCCD1}">
              <a14:hiddenFill xmlns:a14="http://schemas.microsoft.com/office/drawing/2010/main">
                <a:solidFill>
                  <a:srgbClr val="9B0000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600" b="1">
                <a:latin typeface="+mj-ea"/>
                <a:ea typeface="+mj-ea"/>
                <a:cs typeface="+mj-ea"/>
                <a:sym typeface="+mn-ea"/>
              </a:rPr>
              <a:t>队伍成员：王瑞明、刘慧</a:t>
            </a:r>
          </a:p>
        </p:txBody>
      </p:sp>
      <p:sp>
        <p:nvSpPr>
          <p:cNvPr id="61" name="文本框 60"/>
          <p:cNvSpPr txBox="1"/>
          <p:nvPr>
            <p:custDataLst>
              <p:tags r:id="rId5"/>
            </p:custDataLst>
          </p:nvPr>
        </p:nvSpPr>
        <p:spPr>
          <a:xfrm>
            <a:off x="8237220" y="4898390"/>
            <a:ext cx="3041015" cy="584200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gradFill>
                  <a:gsLst>
                    <a:gs pos="0">
                      <a:srgbClr val="9B0000"/>
                    </a:gs>
                    <a:gs pos="99000">
                      <a:srgbClr val="CD8080">
                        <a:alpha val="100000"/>
                      </a:srgbClr>
                    </a:gs>
                    <a:gs pos="0">
                      <a:srgbClr val="9B0000"/>
                    </a:gs>
                    <a:gs pos="0">
                      <a:schemeClr val="bg1">
                        <a:lumMod val="82000"/>
                        <a:lumOff val="18000"/>
                      </a:schemeClr>
                    </a:gs>
                  </a:gsLst>
                  <a:lin ang="10800000" scaled="0"/>
                </a:gradFill>
              </a14:hiddenFill>
            </a:ext>
          </a:extLst>
        </p:spPr>
        <p:txBody>
          <a:bodyPr wrap="square" rtlCol="0">
            <a:noAutofit/>
          </a:bodyPr>
          <a:lstStyle/>
          <a:p>
            <a:endParaRPr lang="en-US" altLang="zh-CN" b="1">
              <a:solidFill>
                <a:schemeClr val="tx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63" name="文本框 62"/>
          <p:cNvSpPr txBox="1"/>
          <p:nvPr>
            <p:custDataLst>
              <p:tags r:id="rId6"/>
            </p:custDataLst>
          </p:nvPr>
        </p:nvSpPr>
        <p:spPr>
          <a:xfrm>
            <a:off x="8324850" y="4898390"/>
            <a:ext cx="2865755" cy="476849"/>
          </a:xfrm>
          <a:prstGeom prst="roundRect">
            <a:avLst>
              <a:gd name="adj" fmla="val 50000"/>
            </a:avLst>
          </a:prstGeom>
          <a:noFill/>
          <a:ln>
            <a:gradFill>
              <a:gsLst>
                <a:gs pos="0">
                  <a:schemeClr val="accent6"/>
                </a:gs>
                <a:gs pos="100000">
                  <a:schemeClr val="bg1"/>
                </a:gs>
              </a:gsLst>
              <a:lin ang="16200000" scaled="1"/>
              <a:tileRect/>
            </a:gradFill>
          </a:ln>
          <a:extLst>
            <a:ext uri="{909E8E84-426E-40DD-AFC4-6F175D3DCCD1}">
              <a14:hiddenFill xmlns:a14="http://schemas.microsoft.com/office/drawing/2010/main">
                <a:solidFill>
                  <a:srgbClr val="9B0000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600" b="1">
                <a:latin typeface="+mj-ea"/>
                <a:ea typeface="+mj-ea"/>
                <a:cs typeface="+mj-ea"/>
                <a:sym typeface="+mn-ea"/>
              </a:rPr>
              <a:t>指导老师：赵进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0" y="5516245"/>
            <a:ext cx="12195175" cy="1362075"/>
            <a:chOff x="0" y="5507990"/>
            <a:chExt cx="12195175" cy="1362075"/>
          </a:xfrm>
        </p:grpSpPr>
        <p:sp>
          <p:nvSpPr>
            <p:cNvPr id="689" name="任意多边形 688"/>
            <p:cNvSpPr/>
            <p:nvPr/>
          </p:nvSpPr>
          <p:spPr>
            <a:xfrm>
              <a:off x="3175" y="5507990"/>
              <a:ext cx="12192000" cy="1243330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9200" h="1958">
                  <a:moveTo>
                    <a:pt x="0" y="1958"/>
                  </a:moveTo>
                  <a:lnTo>
                    <a:pt x="0" y="1037"/>
                  </a:lnTo>
                  <a:cubicBezTo>
                    <a:pt x="159" y="1081"/>
                    <a:pt x="641" y="1121"/>
                    <a:pt x="855" y="1120"/>
                  </a:cubicBezTo>
                  <a:lnTo>
                    <a:pt x="867" y="1120"/>
                  </a:lnTo>
                  <a:lnTo>
                    <a:pt x="880" y="1120"/>
                  </a:lnTo>
                  <a:lnTo>
                    <a:pt x="894" y="1120"/>
                  </a:lnTo>
                  <a:lnTo>
                    <a:pt x="907" y="1119"/>
                  </a:lnTo>
                  <a:cubicBezTo>
                    <a:pt x="919" y="1120"/>
                    <a:pt x="942" y="1120"/>
                    <a:pt x="945" y="1120"/>
                  </a:cubicBezTo>
                  <a:cubicBezTo>
                    <a:pt x="1074" y="1120"/>
                    <a:pt x="1275" y="1111"/>
                    <a:pt x="1319" y="1108"/>
                  </a:cubicBezTo>
                  <a:lnTo>
                    <a:pt x="8140" y="708"/>
                  </a:lnTo>
                  <a:lnTo>
                    <a:pt x="8188" y="705"/>
                  </a:lnTo>
                  <a:lnTo>
                    <a:pt x="8236" y="704"/>
                  </a:lnTo>
                  <a:lnTo>
                    <a:pt x="8284" y="703"/>
                  </a:lnTo>
                  <a:lnTo>
                    <a:pt x="8331" y="703"/>
                  </a:lnTo>
                  <a:cubicBezTo>
                    <a:pt x="9270" y="695"/>
                    <a:pt x="10076" y="1264"/>
                    <a:pt x="10088" y="1446"/>
                  </a:cubicBezTo>
                  <a:lnTo>
                    <a:pt x="10088" y="1450"/>
                  </a:lnTo>
                  <a:lnTo>
                    <a:pt x="10089" y="1463"/>
                  </a:lnTo>
                  <a:lnTo>
                    <a:pt x="10089" y="1465"/>
                  </a:lnTo>
                  <a:lnTo>
                    <a:pt x="10089" y="1466"/>
                  </a:lnTo>
                  <a:lnTo>
                    <a:pt x="10089" y="1477"/>
                  </a:lnTo>
                  <a:lnTo>
                    <a:pt x="10090" y="1467"/>
                  </a:lnTo>
                  <a:lnTo>
                    <a:pt x="10090" y="1457"/>
                  </a:lnTo>
                  <a:lnTo>
                    <a:pt x="10088" y="1447"/>
                  </a:lnTo>
                  <a:lnTo>
                    <a:pt x="10088" y="1446"/>
                  </a:lnTo>
                  <a:lnTo>
                    <a:pt x="10088" y="1435"/>
                  </a:lnTo>
                  <a:cubicBezTo>
                    <a:pt x="10068" y="1129"/>
                    <a:pt x="11108" y="483"/>
                    <a:pt x="11830" y="491"/>
                  </a:cubicBezTo>
                  <a:lnTo>
                    <a:pt x="18333" y="110"/>
                  </a:lnTo>
                  <a:cubicBezTo>
                    <a:pt x="18639" y="99"/>
                    <a:pt x="19043" y="35"/>
                    <a:pt x="19200" y="0"/>
                  </a:cubicBezTo>
                  <a:lnTo>
                    <a:pt x="19200" y="1958"/>
                  </a:lnTo>
                  <a:lnTo>
                    <a:pt x="0" y="19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88" name="任意多边形 687"/>
            <p:cNvSpPr/>
            <p:nvPr/>
          </p:nvSpPr>
          <p:spPr>
            <a:xfrm>
              <a:off x="0" y="5551805"/>
              <a:ext cx="12192000" cy="1243330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9200" h="1958">
                  <a:moveTo>
                    <a:pt x="0" y="1958"/>
                  </a:moveTo>
                  <a:lnTo>
                    <a:pt x="0" y="1037"/>
                  </a:lnTo>
                  <a:cubicBezTo>
                    <a:pt x="159" y="1081"/>
                    <a:pt x="641" y="1121"/>
                    <a:pt x="855" y="1120"/>
                  </a:cubicBezTo>
                  <a:lnTo>
                    <a:pt x="867" y="1120"/>
                  </a:lnTo>
                  <a:lnTo>
                    <a:pt x="880" y="1120"/>
                  </a:lnTo>
                  <a:lnTo>
                    <a:pt x="894" y="1120"/>
                  </a:lnTo>
                  <a:lnTo>
                    <a:pt x="907" y="1119"/>
                  </a:lnTo>
                  <a:cubicBezTo>
                    <a:pt x="919" y="1120"/>
                    <a:pt x="942" y="1120"/>
                    <a:pt x="945" y="1120"/>
                  </a:cubicBezTo>
                  <a:cubicBezTo>
                    <a:pt x="1074" y="1120"/>
                    <a:pt x="1275" y="1111"/>
                    <a:pt x="1319" y="1108"/>
                  </a:cubicBezTo>
                  <a:lnTo>
                    <a:pt x="8140" y="708"/>
                  </a:lnTo>
                  <a:lnTo>
                    <a:pt x="8188" y="705"/>
                  </a:lnTo>
                  <a:lnTo>
                    <a:pt x="8236" y="704"/>
                  </a:lnTo>
                  <a:lnTo>
                    <a:pt x="8284" y="703"/>
                  </a:lnTo>
                  <a:lnTo>
                    <a:pt x="8331" y="703"/>
                  </a:lnTo>
                  <a:cubicBezTo>
                    <a:pt x="9270" y="695"/>
                    <a:pt x="10076" y="1264"/>
                    <a:pt x="10088" y="1446"/>
                  </a:cubicBezTo>
                  <a:lnTo>
                    <a:pt x="10088" y="1450"/>
                  </a:lnTo>
                  <a:lnTo>
                    <a:pt x="10089" y="1463"/>
                  </a:lnTo>
                  <a:lnTo>
                    <a:pt x="10089" y="1465"/>
                  </a:lnTo>
                  <a:lnTo>
                    <a:pt x="10089" y="1466"/>
                  </a:lnTo>
                  <a:lnTo>
                    <a:pt x="10089" y="1477"/>
                  </a:lnTo>
                  <a:lnTo>
                    <a:pt x="10090" y="1467"/>
                  </a:lnTo>
                  <a:lnTo>
                    <a:pt x="10090" y="1457"/>
                  </a:lnTo>
                  <a:lnTo>
                    <a:pt x="10088" y="1447"/>
                  </a:lnTo>
                  <a:lnTo>
                    <a:pt x="10088" y="1446"/>
                  </a:lnTo>
                  <a:lnTo>
                    <a:pt x="10088" y="1435"/>
                  </a:lnTo>
                  <a:cubicBezTo>
                    <a:pt x="10068" y="1129"/>
                    <a:pt x="11108" y="483"/>
                    <a:pt x="11830" y="491"/>
                  </a:cubicBezTo>
                  <a:lnTo>
                    <a:pt x="18333" y="110"/>
                  </a:lnTo>
                  <a:cubicBezTo>
                    <a:pt x="18639" y="99"/>
                    <a:pt x="19043" y="35"/>
                    <a:pt x="19200" y="0"/>
                  </a:cubicBezTo>
                  <a:lnTo>
                    <a:pt x="19200" y="1958"/>
                  </a:lnTo>
                  <a:lnTo>
                    <a:pt x="0" y="1958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83" name="任意多边形 682"/>
            <p:cNvSpPr/>
            <p:nvPr/>
          </p:nvSpPr>
          <p:spPr>
            <a:xfrm>
              <a:off x="0" y="5584825"/>
              <a:ext cx="12192000" cy="1243330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9200" h="1958">
                  <a:moveTo>
                    <a:pt x="0" y="1958"/>
                  </a:moveTo>
                  <a:lnTo>
                    <a:pt x="0" y="1037"/>
                  </a:lnTo>
                  <a:cubicBezTo>
                    <a:pt x="159" y="1081"/>
                    <a:pt x="641" y="1121"/>
                    <a:pt x="855" y="1120"/>
                  </a:cubicBezTo>
                  <a:lnTo>
                    <a:pt x="867" y="1120"/>
                  </a:lnTo>
                  <a:lnTo>
                    <a:pt x="880" y="1120"/>
                  </a:lnTo>
                  <a:lnTo>
                    <a:pt x="894" y="1120"/>
                  </a:lnTo>
                  <a:lnTo>
                    <a:pt x="907" y="1119"/>
                  </a:lnTo>
                  <a:cubicBezTo>
                    <a:pt x="919" y="1120"/>
                    <a:pt x="942" y="1120"/>
                    <a:pt x="945" y="1120"/>
                  </a:cubicBezTo>
                  <a:cubicBezTo>
                    <a:pt x="1074" y="1120"/>
                    <a:pt x="1275" y="1111"/>
                    <a:pt x="1319" y="1108"/>
                  </a:cubicBezTo>
                  <a:lnTo>
                    <a:pt x="8140" y="708"/>
                  </a:lnTo>
                  <a:lnTo>
                    <a:pt x="8188" y="705"/>
                  </a:lnTo>
                  <a:lnTo>
                    <a:pt x="8236" y="704"/>
                  </a:lnTo>
                  <a:lnTo>
                    <a:pt x="8284" y="703"/>
                  </a:lnTo>
                  <a:lnTo>
                    <a:pt x="8331" y="703"/>
                  </a:lnTo>
                  <a:cubicBezTo>
                    <a:pt x="9270" y="695"/>
                    <a:pt x="10076" y="1264"/>
                    <a:pt x="10088" y="1446"/>
                  </a:cubicBezTo>
                  <a:lnTo>
                    <a:pt x="10088" y="1450"/>
                  </a:lnTo>
                  <a:lnTo>
                    <a:pt x="10089" y="1463"/>
                  </a:lnTo>
                  <a:lnTo>
                    <a:pt x="10089" y="1465"/>
                  </a:lnTo>
                  <a:lnTo>
                    <a:pt x="10089" y="1466"/>
                  </a:lnTo>
                  <a:lnTo>
                    <a:pt x="10089" y="1477"/>
                  </a:lnTo>
                  <a:lnTo>
                    <a:pt x="10090" y="1467"/>
                  </a:lnTo>
                  <a:lnTo>
                    <a:pt x="10090" y="1457"/>
                  </a:lnTo>
                  <a:lnTo>
                    <a:pt x="10088" y="1447"/>
                  </a:lnTo>
                  <a:lnTo>
                    <a:pt x="10088" y="1446"/>
                  </a:lnTo>
                  <a:lnTo>
                    <a:pt x="10088" y="1435"/>
                  </a:lnTo>
                  <a:cubicBezTo>
                    <a:pt x="10068" y="1129"/>
                    <a:pt x="11108" y="483"/>
                    <a:pt x="11830" y="491"/>
                  </a:cubicBezTo>
                  <a:lnTo>
                    <a:pt x="18333" y="110"/>
                  </a:lnTo>
                  <a:cubicBezTo>
                    <a:pt x="18639" y="99"/>
                    <a:pt x="19043" y="35"/>
                    <a:pt x="19200" y="0"/>
                  </a:cubicBezTo>
                  <a:lnTo>
                    <a:pt x="19200" y="1958"/>
                  </a:lnTo>
                  <a:lnTo>
                    <a:pt x="0" y="1958"/>
                  </a:lnTo>
                  <a:close/>
                </a:path>
              </a:pathLst>
            </a:custGeom>
            <a:solidFill>
              <a:schemeClr val="accent6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90" name="任意多边形 689"/>
            <p:cNvSpPr/>
            <p:nvPr/>
          </p:nvSpPr>
          <p:spPr>
            <a:xfrm>
              <a:off x="1270" y="5645785"/>
              <a:ext cx="12192000" cy="1224280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9200" h="1958">
                  <a:moveTo>
                    <a:pt x="0" y="1958"/>
                  </a:moveTo>
                  <a:lnTo>
                    <a:pt x="0" y="1037"/>
                  </a:lnTo>
                  <a:cubicBezTo>
                    <a:pt x="159" y="1081"/>
                    <a:pt x="641" y="1121"/>
                    <a:pt x="855" y="1120"/>
                  </a:cubicBezTo>
                  <a:lnTo>
                    <a:pt x="867" y="1120"/>
                  </a:lnTo>
                  <a:lnTo>
                    <a:pt x="880" y="1120"/>
                  </a:lnTo>
                  <a:lnTo>
                    <a:pt x="894" y="1120"/>
                  </a:lnTo>
                  <a:lnTo>
                    <a:pt x="907" y="1119"/>
                  </a:lnTo>
                  <a:cubicBezTo>
                    <a:pt x="919" y="1120"/>
                    <a:pt x="942" y="1120"/>
                    <a:pt x="945" y="1120"/>
                  </a:cubicBezTo>
                  <a:cubicBezTo>
                    <a:pt x="1074" y="1120"/>
                    <a:pt x="1275" y="1111"/>
                    <a:pt x="1319" y="1108"/>
                  </a:cubicBezTo>
                  <a:lnTo>
                    <a:pt x="8140" y="708"/>
                  </a:lnTo>
                  <a:lnTo>
                    <a:pt x="8188" y="705"/>
                  </a:lnTo>
                  <a:lnTo>
                    <a:pt x="8236" y="704"/>
                  </a:lnTo>
                  <a:lnTo>
                    <a:pt x="8284" y="703"/>
                  </a:lnTo>
                  <a:lnTo>
                    <a:pt x="8331" y="703"/>
                  </a:lnTo>
                  <a:cubicBezTo>
                    <a:pt x="9270" y="695"/>
                    <a:pt x="10076" y="1264"/>
                    <a:pt x="10088" y="1446"/>
                  </a:cubicBezTo>
                  <a:lnTo>
                    <a:pt x="10088" y="1450"/>
                  </a:lnTo>
                  <a:lnTo>
                    <a:pt x="10089" y="1463"/>
                  </a:lnTo>
                  <a:lnTo>
                    <a:pt x="10089" y="1465"/>
                  </a:lnTo>
                  <a:lnTo>
                    <a:pt x="10089" y="1466"/>
                  </a:lnTo>
                  <a:lnTo>
                    <a:pt x="10089" y="1477"/>
                  </a:lnTo>
                  <a:lnTo>
                    <a:pt x="10090" y="1467"/>
                  </a:lnTo>
                  <a:lnTo>
                    <a:pt x="10090" y="1457"/>
                  </a:lnTo>
                  <a:lnTo>
                    <a:pt x="10088" y="1447"/>
                  </a:lnTo>
                  <a:lnTo>
                    <a:pt x="10088" y="1446"/>
                  </a:lnTo>
                  <a:lnTo>
                    <a:pt x="10088" y="1435"/>
                  </a:lnTo>
                  <a:cubicBezTo>
                    <a:pt x="10068" y="1129"/>
                    <a:pt x="11108" y="483"/>
                    <a:pt x="11830" y="491"/>
                  </a:cubicBezTo>
                  <a:lnTo>
                    <a:pt x="18333" y="110"/>
                  </a:lnTo>
                  <a:cubicBezTo>
                    <a:pt x="18639" y="99"/>
                    <a:pt x="19043" y="35"/>
                    <a:pt x="19200" y="0"/>
                  </a:cubicBezTo>
                  <a:lnTo>
                    <a:pt x="19200" y="1958"/>
                  </a:lnTo>
                  <a:lnTo>
                    <a:pt x="0" y="1958"/>
                  </a:lnTo>
                  <a:close/>
                </a:path>
              </a:pathLst>
            </a:custGeom>
            <a:solidFill>
              <a:schemeClr val="accent6"/>
            </a:solidFill>
            <a:ln>
              <a:solidFill>
                <a:schemeClr val="accent6"/>
              </a:solidFill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/>
          <p:cNvGrpSpPr/>
          <p:nvPr/>
        </p:nvGrpSpPr>
        <p:grpSpPr>
          <a:xfrm rot="5400000" flipH="1">
            <a:off x="-2727325" y="2754630"/>
            <a:ext cx="6844030" cy="1362075"/>
            <a:chOff x="0" y="8654"/>
            <a:chExt cx="19205" cy="214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6" name="任意多边形 25"/>
            <p:cNvSpPr/>
            <p:nvPr/>
          </p:nvSpPr>
          <p:spPr>
            <a:xfrm>
              <a:off x="5" y="8654"/>
              <a:ext cx="19200" cy="1958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9200" h="1958">
                  <a:moveTo>
                    <a:pt x="0" y="1958"/>
                  </a:moveTo>
                  <a:lnTo>
                    <a:pt x="0" y="1037"/>
                  </a:lnTo>
                  <a:cubicBezTo>
                    <a:pt x="159" y="1081"/>
                    <a:pt x="641" y="1121"/>
                    <a:pt x="855" y="1120"/>
                  </a:cubicBezTo>
                  <a:lnTo>
                    <a:pt x="867" y="1120"/>
                  </a:lnTo>
                  <a:lnTo>
                    <a:pt x="880" y="1120"/>
                  </a:lnTo>
                  <a:lnTo>
                    <a:pt x="894" y="1120"/>
                  </a:lnTo>
                  <a:lnTo>
                    <a:pt x="907" y="1119"/>
                  </a:lnTo>
                  <a:cubicBezTo>
                    <a:pt x="919" y="1120"/>
                    <a:pt x="942" y="1120"/>
                    <a:pt x="945" y="1120"/>
                  </a:cubicBezTo>
                  <a:cubicBezTo>
                    <a:pt x="1074" y="1120"/>
                    <a:pt x="1275" y="1111"/>
                    <a:pt x="1319" y="1108"/>
                  </a:cubicBezTo>
                  <a:lnTo>
                    <a:pt x="8140" y="708"/>
                  </a:lnTo>
                  <a:lnTo>
                    <a:pt x="8188" y="705"/>
                  </a:lnTo>
                  <a:lnTo>
                    <a:pt x="8236" y="704"/>
                  </a:lnTo>
                  <a:lnTo>
                    <a:pt x="8284" y="703"/>
                  </a:lnTo>
                  <a:lnTo>
                    <a:pt x="8331" y="703"/>
                  </a:lnTo>
                  <a:cubicBezTo>
                    <a:pt x="9270" y="695"/>
                    <a:pt x="10076" y="1264"/>
                    <a:pt x="10088" y="1446"/>
                  </a:cubicBezTo>
                  <a:lnTo>
                    <a:pt x="10088" y="1450"/>
                  </a:lnTo>
                  <a:lnTo>
                    <a:pt x="10089" y="1463"/>
                  </a:lnTo>
                  <a:lnTo>
                    <a:pt x="10089" y="1465"/>
                  </a:lnTo>
                  <a:lnTo>
                    <a:pt x="10089" y="1466"/>
                  </a:lnTo>
                  <a:lnTo>
                    <a:pt x="10089" y="1477"/>
                  </a:lnTo>
                  <a:lnTo>
                    <a:pt x="10090" y="1467"/>
                  </a:lnTo>
                  <a:lnTo>
                    <a:pt x="10090" y="1457"/>
                  </a:lnTo>
                  <a:lnTo>
                    <a:pt x="10088" y="1447"/>
                  </a:lnTo>
                  <a:lnTo>
                    <a:pt x="10088" y="1446"/>
                  </a:lnTo>
                  <a:lnTo>
                    <a:pt x="10088" y="1435"/>
                  </a:lnTo>
                  <a:cubicBezTo>
                    <a:pt x="10068" y="1129"/>
                    <a:pt x="11108" y="483"/>
                    <a:pt x="11830" y="491"/>
                  </a:cubicBezTo>
                  <a:lnTo>
                    <a:pt x="18333" y="110"/>
                  </a:lnTo>
                  <a:cubicBezTo>
                    <a:pt x="18639" y="99"/>
                    <a:pt x="19043" y="35"/>
                    <a:pt x="19200" y="0"/>
                  </a:cubicBezTo>
                  <a:lnTo>
                    <a:pt x="19200" y="1958"/>
                  </a:lnTo>
                  <a:lnTo>
                    <a:pt x="0" y="19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8" name="任意多边形 27"/>
            <p:cNvSpPr/>
            <p:nvPr/>
          </p:nvSpPr>
          <p:spPr>
            <a:xfrm>
              <a:off x="0" y="8723"/>
              <a:ext cx="19200" cy="1958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9200" h="1958">
                  <a:moveTo>
                    <a:pt x="0" y="1958"/>
                  </a:moveTo>
                  <a:lnTo>
                    <a:pt x="0" y="1037"/>
                  </a:lnTo>
                  <a:cubicBezTo>
                    <a:pt x="159" y="1081"/>
                    <a:pt x="641" y="1121"/>
                    <a:pt x="855" y="1120"/>
                  </a:cubicBezTo>
                  <a:lnTo>
                    <a:pt x="867" y="1120"/>
                  </a:lnTo>
                  <a:lnTo>
                    <a:pt x="880" y="1120"/>
                  </a:lnTo>
                  <a:lnTo>
                    <a:pt x="894" y="1120"/>
                  </a:lnTo>
                  <a:lnTo>
                    <a:pt x="907" y="1119"/>
                  </a:lnTo>
                  <a:cubicBezTo>
                    <a:pt x="919" y="1120"/>
                    <a:pt x="942" y="1120"/>
                    <a:pt x="945" y="1120"/>
                  </a:cubicBezTo>
                  <a:cubicBezTo>
                    <a:pt x="1074" y="1120"/>
                    <a:pt x="1275" y="1111"/>
                    <a:pt x="1319" y="1108"/>
                  </a:cubicBezTo>
                  <a:lnTo>
                    <a:pt x="8140" y="708"/>
                  </a:lnTo>
                  <a:lnTo>
                    <a:pt x="8188" y="705"/>
                  </a:lnTo>
                  <a:lnTo>
                    <a:pt x="8236" y="704"/>
                  </a:lnTo>
                  <a:lnTo>
                    <a:pt x="8284" y="703"/>
                  </a:lnTo>
                  <a:lnTo>
                    <a:pt x="8331" y="703"/>
                  </a:lnTo>
                  <a:cubicBezTo>
                    <a:pt x="9270" y="695"/>
                    <a:pt x="10076" y="1264"/>
                    <a:pt x="10088" y="1446"/>
                  </a:cubicBezTo>
                  <a:lnTo>
                    <a:pt x="10088" y="1450"/>
                  </a:lnTo>
                  <a:lnTo>
                    <a:pt x="10089" y="1463"/>
                  </a:lnTo>
                  <a:lnTo>
                    <a:pt x="10089" y="1465"/>
                  </a:lnTo>
                  <a:lnTo>
                    <a:pt x="10089" y="1466"/>
                  </a:lnTo>
                  <a:lnTo>
                    <a:pt x="10089" y="1477"/>
                  </a:lnTo>
                  <a:lnTo>
                    <a:pt x="10090" y="1467"/>
                  </a:lnTo>
                  <a:lnTo>
                    <a:pt x="10090" y="1457"/>
                  </a:lnTo>
                  <a:lnTo>
                    <a:pt x="10088" y="1447"/>
                  </a:lnTo>
                  <a:lnTo>
                    <a:pt x="10088" y="1446"/>
                  </a:lnTo>
                  <a:lnTo>
                    <a:pt x="10088" y="1435"/>
                  </a:lnTo>
                  <a:cubicBezTo>
                    <a:pt x="10068" y="1129"/>
                    <a:pt x="11108" y="483"/>
                    <a:pt x="11830" y="491"/>
                  </a:cubicBezTo>
                  <a:lnTo>
                    <a:pt x="18333" y="110"/>
                  </a:lnTo>
                  <a:cubicBezTo>
                    <a:pt x="18639" y="99"/>
                    <a:pt x="19043" y="35"/>
                    <a:pt x="19200" y="0"/>
                  </a:cubicBezTo>
                  <a:lnTo>
                    <a:pt x="19200" y="1958"/>
                  </a:lnTo>
                  <a:lnTo>
                    <a:pt x="0" y="1958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9" name="任意多边形 28"/>
            <p:cNvSpPr/>
            <p:nvPr/>
          </p:nvSpPr>
          <p:spPr>
            <a:xfrm>
              <a:off x="0" y="8775"/>
              <a:ext cx="19200" cy="1958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9200" h="1958">
                  <a:moveTo>
                    <a:pt x="0" y="1958"/>
                  </a:moveTo>
                  <a:lnTo>
                    <a:pt x="0" y="1037"/>
                  </a:lnTo>
                  <a:cubicBezTo>
                    <a:pt x="159" y="1081"/>
                    <a:pt x="641" y="1121"/>
                    <a:pt x="855" y="1120"/>
                  </a:cubicBezTo>
                  <a:lnTo>
                    <a:pt x="867" y="1120"/>
                  </a:lnTo>
                  <a:lnTo>
                    <a:pt x="880" y="1120"/>
                  </a:lnTo>
                  <a:lnTo>
                    <a:pt x="894" y="1120"/>
                  </a:lnTo>
                  <a:lnTo>
                    <a:pt x="907" y="1119"/>
                  </a:lnTo>
                  <a:cubicBezTo>
                    <a:pt x="919" y="1120"/>
                    <a:pt x="942" y="1120"/>
                    <a:pt x="945" y="1120"/>
                  </a:cubicBezTo>
                  <a:cubicBezTo>
                    <a:pt x="1074" y="1120"/>
                    <a:pt x="1275" y="1111"/>
                    <a:pt x="1319" y="1108"/>
                  </a:cubicBezTo>
                  <a:lnTo>
                    <a:pt x="8140" y="708"/>
                  </a:lnTo>
                  <a:lnTo>
                    <a:pt x="8188" y="705"/>
                  </a:lnTo>
                  <a:lnTo>
                    <a:pt x="8236" y="704"/>
                  </a:lnTo>
                  <a:lnTo>
                    <a:pt x="8284" y="703"/>
                  </a:lnTo>
                  <a:lnTo>
                    <a:pt x="8331" y="703"/>
                  </a:lnTo>
                  <a:cubicBezTo>
                    <a:pt x="9270" y="695"/>
                    <a:pt x="10076" y="1264"/>
                    <a:pt x="10088" y="1446"/>
                  </a:cubicBezTo>
                  <a:lnTo>
                    <a:pt x="10088" y="1450"/>
                  </a:lnTo>
                  <a:lnTo>
                    <a:pt x="10089" y="1463"/>
                  </a:lnTo>
                  <a:lnTo>
                    <a:pt x="10089" y="1465"/>
                  </a:lnTo>
                  <a:lnTo>
                    <a:pt x="10089" y="1466"/>
                  </a:lnTo>
                  <a:lnTo>
                    <a:pt x="10089" y="1477"/>
                  </a:lnTo>
                  <a:lnTo>
                    <a:pt x="10090" y="1467"/>
                  </a:lnTo>
                  <a:lnTo>
                    <a:pt x="10090" y="1457"/>
                  </a:lnTo>
                  <a:lnTo>
                    <a:pt x="10088" y="1447"/>
                  </a:lnTo>
                  <a:lnTo>
                    <a:pt x="10088" y="1446"/>
                  </a:lnTo>
                  <a:lnTo>
                    <a:pt x="10088" y="1435"/>
                  </a:lnTo>
                  <a:cubicBezTo>
                    <a:pt x="10068" y="1129"/>
                    <a:pt x="11108" y="483"/>
                    <a:pt x="11830" y="491"/>
                  </a:cubicBezTo>
                  <a:lnTo>
                    <a:pt x="18333" y="110"/>
                  </a:lnTo>
                  <a:cubicBezTo>
                    <a:pt x="18639" y="99"/>
                    <a:pt x="19043" y="35"/>
                    <a:pt x="19200" y="0"/>
                  </a:cubicBezTo>
                  <a:lnTo>
                    <a:pt x="19200" y="1958"/>
                  </a:lnTo>
                  <a:lnTo>
                    <a:pt x="0" y="1958"/>
                  </a:lnTo>
                  <a:close/>
                </a:path>
              </a:pathLst>
            </a:custGeom>
            <a:solidFill>
              <a:schemeClr val="accent6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2" name="任意多边形 31"/>
            <p:cNvSpPr/>
            <p:nvPr/>
          </p:nvSpPr>
          <p:spPr>
            <a:xfrm>
              <a:off x="2" y="8871"/>
              <a:ext cx="19200" cy="1928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9200" h="1958">
                  <a:moveTo>
                    <a:pt x="0" y="1958"/>
                  </a:moveTo>
                  <a:lnTo>
                    <a:pt x="0" y="1037"/>
                  </a:lnTo>
                  <a:cubicBezTo>
                    <a:pt x="159" y="1081"/>
                    <a:pt x="641" y="1121"/>
                    <a:pt x="855" y="1120"/>
                  </a:cubicBezTo>
                  <a:lnTo>
                    <a:pt x="867" y="1120"/>
                  </a:lnTo>
                  <a:lnTo>
                    <a:pt x="880" y="1120"/>
                  </a:lnTo>
                  <a:lnTo>
                    <a:pt x="894" y="1120"/>
                  </a:lnTo>
                  <a:lnTo>
                    <a:pt x="907" y="1119"/>
                  </a:lnTo>
                  <a:cubicBezTo>
                    <a:pt x="919" y="1120"/>
                    <a:pt x="942" y="1120"/>
                    <a:pt x="945" y="1120"/>
                  </a:cubicBezTo>
                  <a:cubicBezTo>
                    <a:pt x="1074" y="1120"/>
                    <a:pt x="1275" y="1111"/>
                    <a:pt x="1319" y="1108"/>
                  </a:cubicBezTo>
                  <a:lnTo>
                    <a:pt x="8140" y="708"/>
                  </a:lnTo>
                  <a:lnTo>
                    <a:pt x="8188" y="705"/>
                  </a:lnTo>
                  <a:lnTo>
                    <a:pt x="8236" y="704"/>
                  </a:lnTo>
                  <a:lnTo>
                    <a:pt x="8284" y="703"/>
                  </a:lnTo>
                  <a:lnTo>
                    <a:pt x="8331" y="703"/>
                  </a:lnTo>
                  <a:cubicBezTo>
                    <a:pt x="9270" y="695"/>
                    <a:pt x="10076" y="1264"/>
                    <a:pt x="10088" y="1446"/>
                  </a:cubicBezTo>
                  <a:lnTo>
                    <a:pt x="10088" y="1450"/>
                  </a:lnTo>
                  <a:lnTo>
                    <a:pt x="10089" y="1463"/>
                  </a:lnTo>
                  <a:lnTo>
                    <a:pt x="10089" y="1465"/>
                  </a:lnTo>
                  <a:lnTo>
                    <a:pt x="10089" y="1466"/>
                  </a:lnTo>
                  <a:lnTo>
                    <a:pt x="10089" y="1477"/>
                  </a:lnTo>
                  <a:lnTo>
                    <a:pt x="10090" y="1467"/>
                  </a:lnTo>
                  <a:lnTo>
                    <a:pt x="10090" y="1457"/>
                  </a:lnTo>
                  <a:lnTo>
                    <a:pt x="10088" y="1447"/>
                  </a:lnTo>
                  <a:lnTo>
                    <a:pt x="10088" y="1446"/>
                  </a:lnTo>
                  <a:lnTo>
                    <a:pt x="10088" y="1435"/>
                  </a:lnTo>
                  <a:cubicBezTo>
                    <a:pt x="10068" y="1129"/>
                    <a:pt x="11108" y="483"/>
                    <a:pt x="11830" y="491"/>
                  </a:cubicBezTo>
                  <a:lnTo>
                    <a:pt x="18333" y="110"/>
                  </a:lnTo>
                  <a:cubicBezTo>
                    <a:pt x="18639" y="99"/>
                    <a:pt x="19043" y="35"/>
                    <a:pt x="19200" y="0"/>
                  </a:cubicBezTo>
                  <a:lnTo>
                    <a:pt x="19200" y="1958"/>
                  </a:lnTo>
                  <a:lnTo>
                    <a:pt x="0" y="1958"/>
                  </a:lnTo>
                  <a:close/>
                </a:path>
              </a:pathLst>
            </a:custGeom>
            <a:solidFill>
              <a:schemeClr val="accent6"/>
            </a:solidFill>
            <a:ln>
              <a:solidFill>
                <a:schemeClr val="accent6"/>
              </a:solidFill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39" name="矩形 38"/>
          <p:cNvSpPr/>
          <p:nvPr/>
        </p:nvSpPr>
        <p:spPr>
          <a:xfrm>
            <a:off x="12060555" y="2115503"/>
            <a:ext cx="131445" cy="2626995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1956435" y="477520"/>
            <a:ext cx="1866900" cy="9220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6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方正小标宋简体" panose="03000509000000000000" charset="-122"/>
                <a:ea typeface="方正小标宋简体" panose="03000509000000000000" charset="-122"/>
              </a:rPr>
              <a:t>目</a:t>
            </a:r>
            <a:r>
              <a:rPr lang="en-US" altLang="zh-CN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6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方正小标宋简体" panose="03000509000000000000" charset="-122"/>
                <a:ea typeface="方正小标宋简体" panose="03000509000000000000" charset="-122"/>
              </a:rPr>
              <a:t> </a:t>
            </a:r>
            <a:r>
              <a:rPr lang="zh-CN" alt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6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方正小标宋简体" panose="03000509000000000000" charset="-122"/>
                <a:ea typeface="方正小标宋简体" panose="03000509000000000000" charset="-122"/>
              </a:rPr>
              <a:t>录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3832860" y="668020"/>
            <a:ext cx="3283585" cy="63690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6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CONTENTS</a:t>
            </a:r>
          </a:p>
        </p:txBody>
      </p:sp>
      <p:sp>
        <p:nvSpPr>
          <p:cNvPr id="45" name="矩形 44"/>
          <p:cNvSpPr/>
          <p:nvPr/>
        </p:nvSpPr>
        <p:spPr>
          <a:xfrm flipV="1">
            <a:off x="6850380" y="1170940"/>
            <a:ext cx="1293495" cy="15621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>
            <p:custDataLst>
              <p:tags r:id="rId1"/>
            </p:custDataLst>
          </p:nvPr>
        </p:nvSpPr>
        <p:spPr>
          <a:xfrm>
            <a:off x="2129155" y="3571875"/>
            <a:ext cx="10090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i="1" dirty="0">
                <a:solidFill>
                  <a:schemeClr val="accent6"/>
                </a:solidFill>
                <a:latin typeface="方正小标宋简体" panose="03000509000000000000" charset="-122"/>
                <a:ea typeface="方正小标宋简体" panose="03000509000000000000" charset="-122"/>
              </a:rPr>
              <a:t>02</a:t>
            </a:r>
          </a:p>
        </p:txBody>
      </p:sp>
      <p:sp>
        <p:nvSpPr>
          <p:cNvPr id="56" name="文本框 55"/>
          <p:cNvSpPr txBox="1"/>
          <p:nvPr>
            <p:custDataLst>
              <p:tags r:id="rId2"/>
            </p:custDataLst>
          </p:nvPr>
        </p:nvSpPr>
        <p:spPr>
          <a:xfrm>
            <a:off x="3253105" y="3604260"/>
            <a:ext cx="3044825" cy="651059"/>
          </a:xfrm>
          <a:prstGeom prst="roundRect">
            <a:avLst>
              <a:gd name="adj" fmla="val 49999"/>
            </a:avLst>
          </a:prstGeom>
          <a:noFill/>
          <a:ln>
            <a:gradFill>
              <a:gsLst>
                <a:gs pos="0">
                  <a:schemeClr val="accent6"/>
                </a:gs>
                <a:gs pos="100000">
                  <a:schemeClr val="bg1"/>
                </a:gs>
              </a:gsLst>
              <a:lin ang="16200000" scaled="1"/>
              <a:tileRect/>
            </a:gradFill>
          </a:ln>
          <a:extLst>
            <a:ext uri="{909E8E84-426E-40DD-AFC4-6F175D3DCCD1}">
              <a14:hiddenFill xmlns:a14="http://schemas.microsoft.com/office/drawing/2010/main">
                <a:solidFill>
                  <a:srgbClr val="9B0000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400" b="1">
                <a:latin typeface="+mj-ea"/>
                <a:ea typeface="+mj-ea"/>
                <a:cs typeface="+mj-ea"/>
                <a:sym typeface="+mn-ea"/>
              </a:rPr>
              <a:t>开发进度安排</a:t>
            </a:r>
          </a:p>
        </p:txBody>
      </p:sp>
      <p:sp>
        <p:nvSpPr>
          <p:cNvPr id="58" name="文本框 57"/>
          <p:cNvSpPr txBox="1"/>
          <p:nvPr>
            <p:custDataLst>
              <p:tags r:id="rId3"/>
            </p:custDataLst>
          </p:nvPr>
        </p:nvSpPr>
        <p:spPr>
          <a:xfrm>
            <a:off x="6516370" y="3699510"/>
            <a:ext cx="41236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</a:rPr>
              <a:t>Development Schedule</a:t>
            </a:r>
          </a:p>
        </p:txBody>
      </p:sp>
      <p:sp>
        <p:nvSpPr>
          <p:cNvPr id="62" name="文本框 61"/>
          <p:cNvSpPr txBox="1"/>
          <p:nvPr>
            <p:custDataLst>
              <p:tags r:id="rId4"/>
            </p:custDataLst>
          </p:nvPr>
        </p:nvSpPr>
        <p:spPr>
          <a:xfrm>
            <a:off x="2117725" y="5109845"/>
            <a:ext cx="10090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i="1" dirty="0">
                <a:solidFill>
                  <a:schemeClr val="accent6"/>
                </a:solidFill>
                <a:latin typeface="方正小标宋简体" panose="03000509000000000000" charset="-122"/>
                <a:ea typeface="方正小标宋简体" panose="03000509000000000000" charset="-122"/>
              </a:rPr>
              <a:t>03</a:t>
            </a:r>
          </a:p>
        </p:txBody>
      </p:sp>
      <p:sp>
        <p:nvSpPr>
          <p:cNvPr id="64" name="文本框 63"/>
          <p:cNvSpPr txBox="1"/>
          <p:nvPr>
            <p:custDataLst>
              <p:tags r:id="rId5"/>
            </p:custDataLst>
          </p:nvPr>
        </p:nvSpPr>
        <p:spPr>
          <a:xfrm>
            <a:off x="3241675" y="5142230"/>
            <a:ext cx="3044825" cy="651059"/>
          </a:xfrm>
          <a:prstGeom prst="roundRect">
            <a:avLst>
              <a:gd name="adj" fmla="val 49999"/>
            </a:avLst>
          </a:prstGeom>
          <a:noFill/>
          <a:ln>
            <a:gradFill>
              <a:gsLst>
                <a:gs pos="0">
                  <a:schemeClr val="accent6"/>
                </a:gs>
                <a:gs pos="100000">
                  <a:schemeClr val="bg1"/>
                </a:gs>
              </a:gsLst>
              <a:lin ang="16200000" scaled="1"/>
              <a:tileRect/>
            </a:gradFill>
          </a:ln>
          <a:extLst>
            <a:ext uri="{909E8E84-426E-40DD-AFC4-6F175D3DCCD1}">
              <a14:hiddenFill xmlns:a14="http://schemas.microsoft.com/office/drawing/2010/main">
                <a:solidFill>
                  <a:srgbClr val="9B0000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2400" b="1">
                <a:latin typeface="+mj-ea"/>
                <a:ea typeface="+mj-ea"/>
                <a:cs typeface="+mj-ea"/>
                <a:sym typeface="+mn-ea"/>
              </a:rPr>
              <a:t>AI</a:t>
            </a:r>
            <a:r>
              <a:rPr lang="zh-CN" altLang="en-US" sz="2400" b="1">
                <a:latin typeface="+mj-ea"/>
                <a:ea typeface="+mj-ea"/>
                <a:cs typeface="+mj-ea"/>
                <a:sym typeface="+mn-ea"/>
              </a:rPr>
              <a:t>使用说明</a:t>
            </a:r>
          </a:p>
        </p:txBody>
      </p:sp>
      <p:sp>
        <p:nvSpPr>
          <p:cNvPr id="65" name="文本框 64"/>
          <p:cNvSpPr txBox="1"/>
          <p:nvPr>
            <p:custDataLst>
              <p:tags r:id="rId6"/>
            </p:custDataLst>
          </p:nvPr>
        </p:nvSpPr>
        <p:spPr>
          <a:xfrm>
            <a:off x="6504940" y="5237480"/>
            <a:ext cx="51181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</a:rPr>
              <a:t>AI Tool Usage</a:t>
            </a:r>
          </a:p>
        </p:txBody>
      </p:sp>
      <p:cxnSp>
        <p:nvCxnSpPr>
          <p:cNvPr id="43" name="直接连接符 42"/>
          <p:cNvCxnSpPr/>
          <p:nvPr/>
        </p:nvCxnSpPr>
        <p:spPr>
          <a:xfrm>
            <a:off x="1713865" y="1382395"/>
            <a:ext cx="6430010" cy="7620"/>
          </a:xfrm>
          <a:prstGeom prst="line">
            <a:avLst/>
          </a:prstGeom>
          <a:solidFill>
            <a:srgbClr val="9B0000"/>
          </a:solidFill>
          <a:ln>
            <a:gradFill>
              <a:gsLst>
                <a:gs pos="0">
                  <a:schemeClr val="accent6"/>
                </a:gs>
                <a:gs pos="50000">
                  <a:schemeClr val="accent6"/>
                </a:gs>
                <a:gs pos="100000">
                  <a:schemeClr val="bg1">
                    <a:alpha val="50000"/>
                  </a:schemeClr>
                </a:gs>
              </a:gsLst>
              <a:lin ang="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/>
          <p:cNvSpPr txBox="1"/>
          <p:nvPr>
            <p:custDataLst>
              <p:tags r:id="rId7"/>
            </p:custDataLst>
          </p:nvPr>
        </p:nvSpPr>
        <p:spPr>
          <a:xfrm>
            <a:off x="2232660" y="2018665"/>
            <a:ext cx="10090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i="1" dirty="0">
                <a:solidFill>
                  <a:schemeClr val="accent6"/>
                </a:solidFill>
                <a:latin typeface="方正小标宋简体" panose="03000509000000000000" charset="-122"/>
                <a:ea typeface="方正小标宋简体" panose="03000509000000000000" charset="-122"/>
              </a:rPr>
              <a:t>01</a:t>
            </a:r>
          </a:p>
        </p:txBody>
      </p:sp>
      <p:sp>
        <p:nvSpPr>
          <p:cNvPr id="48" name="文本框 47"/>
          <p:cNvSpPr txBox="1"/>
          <p:nvPr>
            <p:custDataLst>
              <p:tags r:id="rId8"/>
            </p:custDataLst>
          </p:nvPr>
        </p:nvSpPr>
        <p:spPr>
          <a:xfrm>
            <a:off x="3356610" y="2066290"/>
            <a:ext cx="3044825" cy="651059"/>
          </a:xfrm>
          <a:prstGeom prst="roundRect">
            <a:avLst>
              <a:gd name="adj" fmla="val 49999"/>
            </a:avLst>
          </a:prstGeom>
          <a:noFill/>
          <a:ln>
            <a:gradFill>
              <a:gsLst>
                <a:gs pos="0">
                  <a:schemeClr val="accent6"/>
                </a:gs>
                <a:gs pos="100000">
                  <a:schemeClr val="bg1"/>
                </a:gs>
              </a:gsLst>
              <a:lin ang="16200000" scaled="1"/>
              <a:tileRect/>
            </a:gradFill>
          </a:ln>
          <a:extLst>
            <a:ext uri="{909E8E84-426E-40DD-AFC4-6F175D3DCCD1}">
              <a14:hiddenFill xmlns:a14="http://schemas.microsoft.com/office/drawing/2010/main">
                <a:solidFill>
                  <a:srgbClr val="9B0000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400" b="1">
                <a:latin typeface="+mj-ea"/>
                <a:ea typeface="+mj-ea"/>
                <a:cs typeface="+mj-ea"/>
                <a:sym typeface="+mn-ea"/>
              </a:rPr>
              <a:t>团队成员分工</a:t>
            </a:r>
          </a:p>
        </p:txBody>
      </p:sp>
      <p:sp>
        <p:nvSpPr>
          <p:cNvPr id="49" name="文本框 48"/>
          <p:cNvSpPr txBox="1"/>
          <p:nvPr>
            <p:custDataLst>
              <p:tags r:id="rId9"/>
            </p:custDataLst>
          </p:nvPr>
        </p:nvSpPr>
        <p:spPr>
          <a:xfrm>
            <a:off x="6619875" y="2146300"/>
            <a:ext cx="41236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Division of Responsibilities</a:t>
            </a:r>
          </a:p>
        </p:txBody>
      </p:sp>
      <p:cxnSp>
        <p:nvCxnSpPr>
          <p:cNvPr id="86" name="直接连接符 85"/>
          <p:cNvCxnSpPr/>
          <p:nvPr>
            <p:custDataLst>
              <p:tags r:id="rId10"/>
            </p:custDataLst>
          </p:nvPr>
        </p:nvCxnSpPr>
        <p:spPr>
          <a:xfrm flipH="1">
            <a:off x="6458585" y="2644775"/>
            <a:ext cx="3952875" cy="0"/>
          </a:xfrm>
          <a:prstGeom prst="line">
            <a:avLst/>
          </a:prstGeom>
          <a:solidFill>
            <a:srgbClr val="9B0000"/>
          </a:solidFill>
          <a:ln>
            <a:gradFill>
              <a:gsLst>
                <a:gs pos="0">
                  <a:schemeClr val="accent6"/>
                </a:gs>
                <a:gs pos="50000">
                  <a:schemeClr val="accent6"/>
                </a:gs>
                <a:gs pos="100000">
                  <a:schemeClr val="bg1">
                    <a:alpha val="50000"/>
                  </a:schemeClr>
                </a:gs>
              </a:gsLst>
              <a:lin ang="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/>
          <p:cNvCxnSpPr/>
          <p:nvPr>
            <p:custDataLst>
              <p:tags r:id="rId11"/>
            </p:custDataLst>
          </p:nvPr>
        </p:nvCxnSpPr>
        <p:spPr>
          <a:xfrm flipH="1">
            <a:off x="6355080" y="4208780"/>
            <a:ext cx="3952875" cy="0"/>
          </a:xfrm>
          <a:prstGeom prst="line">
            <a:avLst/>
          </a:prstGeom>
          <a:solidFill>
            <a:srgbClr val="9B0000"/>
          </a:solidFill>
          <a:ln>
            <a:gradFill>
              <a:gsLst>
                <a:gs pos="0">
                  <a:schemeClr val="accent6"/>
                </a:gs>
                <a:gs pos="50000">
                  <a:schemeClr val="accent6"/>
                </a:gs>
                <a:gs pos="100000">
                  <a:schemeClr val="bg1">
                    <a:alpha val="50000"/>
                  </a:schemeClr>
                </a:gs>
              </a:gsLst>
              <a:lin ang="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/>
          <p:cNvCxnSpPr/>
          <p:nvPr>
            <p:custDataLst>
              <p:tags r:id="rId12"/>
            </p:custDataLst>
          </p:nvPr>
        </p:nvCxnSpPr>
        <p:spPr>
          <a:xfrm flipH="1">
            <a:off x="6343650" y="5757545"/>
            <a:ext cx="3952875" cy="0"/>
          </a:xfrm>
          <a:prstGeom prst="line">
            <a:avLst/>
          </a:prstGeom>
          <a:solidFill>
            <a:srgbClr val="9B0000"/>
          </a:solidFill>
          <a:ln>
            <a:gradFill>
              <a:gsLst>
                <a:gs pos="0">
                  <a:schemeClr val="accent6"/>
                </a:gs>
                <a:gs pos="50000">
                  <a:schemeClr val="accent6"/>
                </a:gs>
                <a:gs pos="100000">
                  <a:schemeClr val="bg1">
                    <a:alpha val="50000"/>
                  </a:schemeClr>
                </a:gs>
              </a:gsLst>
              <a:lin ang="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1092" y="157501"/>
            <a:ext cx="2477235" cy="79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293995" y="2310765"/>
            <a:ext cx="594296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 dirty="0">
                <a:solidFill>
                  <a:schemeClr val="tx1"/>
                </a:solidFill>
              </a:rPr>
              <a:t>团队成员分工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293995" y="3577590"/>
            <a:ext cx="62484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Division of Responsibilities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177925" y="1510665"/>
            <a:ext cx="3314700" cy="3769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3900" b="1" i="1" dirty="0">
                <a:solidFill>
                  <a:schemeClr val="accent6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uFillTx/>
                <a:latin typeface="方正小标宋简体" panose="03000509000000000000" charset="-122"/>
                <a:ea typeface="方正小标宋简体" panose="03000509000000000000" charset="-122"/>
              </a:rPr>
              <a:t>01</a:t>
            </a: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-9525" y="4955540"/>
            <a:ext cx="3952875" cy="0"/>
          </a:xfrm>
          <a:prstGeom prst="line">
            <a:avLst/>
          </a:prstGeom>
          <a:solidFill>
            <a:srgbClr val="9B0000"/>
          </a:solidFill>
          <a:ln>
            <a:gradFill>
              <a:gsLst>
                <a:gs pos="0">
                  <a:schemeClr val="accent6"/>
                </a:gs>
                <a:gs pos="50000">
                  <a:schemeClr val="accent6"/>
                </a:gs>
                <a:gs pos="100000">
                  <a:schemeClr val="bg1">
                    <a:alpha val="50000"/>
                  </a:schemeClr>
                </a:gs>
              </a:gsLst>
              <a:lin ang="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 flipV="1">
            <a:off x="2649855" y="4736465"/>
            <a:ext cx="1293495" cy="15621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/>
        </p:nvCxnSpPr>
        <p:spPr>
          <a:xfrm flipH="1">
            <a:off x="8239125" y="1696085"/>
            <a:ext cx="3952875" cy="0"/>
          </a:xfrm>
          <a:prstGeom prst="line">
            <a:avLst/>
          </a:prstGeom>
          <a:solidFill>
            <a:srgbClr val="9B0000"/>
          </a:solidFill>
          <a:ln>
            <a:gradFill>
              <a:gsLst>
                <a:gs pos="0">
                  <a:schemeClr val="accent6"/>
                </a:gs>
                <a:gs pos="50000">
                  <a:schemeClr val="accent6"/>
                </a:gs>
                <a:gs pos="100000">
                  <a:schemeClr val="bg1">
                    <a:alpha val="50000"/>
                  </a:schemeClr>
                </a:gs>
              </a:gsLst>
              <a:lin ang="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 flipH="1">
            <a:off x="8239125" y="1758950"/>
            <a:ext cx="1293495" cy="15621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0" y="5507990"/>
            <a:ext cx="12195175" cy="1362075"/>
            <a:chOff x="0" y="5507990"/>
            <a:chExt cx="12195175" cy="1362075"/>
          </a:xfrm>
        </p:grpSpPr>
        <p:sp>
          <p:nvSpPr>
            <p:cNvPr id="21" name="任意多边形 688"/>
            <p:cNvSpPr/>
            <p:nvPr/>
          </p:nvSpPr>
          <p:spPr>
            <a:xfrm>
              <a:off x="3175" y="5507990"/>
              <a:ext cx="12192000" cy="1243330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9200" h="1958">
                  <a:moveTo>
                    <a:pt x="0" y="1958"/>
                  </a:moveTo>
                  <a:lnTo>
                    <a:pt x="0" y="1037"/>
                  </a:lnTo>
                  <a:cubicBezTo>
                    <a:pt x="159" y="1081"/>
                    <a:pt x="641" y="1121"/>
                    <a:pt x="855" y="1120"/>
                  </a:cubicBezTo>
                  <a:lnTo>
                    <a:pt x="867" y="1120"/>
                  </a:lnTo>
                  <a:lnTo>
                    <a:pt x="880" y="1120"/>
                  </a:lnTo>
                  <a:lnTo>
                    <a:pt x="894" y="1120"/>
                  </a:lnTo>
                  <a:lnTo>
                    <a:pt x="907" y="1119"/>
                  </a:lnTo>
                  <a:cubicBezTo>
                    <a:pt x="919" y="1120"/>
                    <a:pt x="942" y="1120"/>
                    <a:pt x="945" y="1120"/>
                  </a:cubicBezTo>
                  <a:cubicBezTo>
                    <a:pt x="1074" y="1120"/>
                    <a:pt x="1275" y="1111"/>
                    <a:pt x="1319" y="1108"/>
                  </a:cubicBezTo>
                  <a:lnTo>
                    <a:pt x="8140" y="708"/>
                  </a:lnTo>
                  <a:lnTo>
                    <a:pt x="8188" y="705"/>
                  </a:lnTo>
                  <a:lnTo>
                    <a:pt x="8236" y="704"/>
                  </a:lnTo>
                  <a:lnTo>
                    <a:pt x="8284" y="703"/>
                  </a:lnTo>
                  <a:lnTo>
                    <a:pt x="8331" y="703"/>
                  </a:lnTo>
                  <a:cubicBezTo>
                    <a:pt x="9270" y="695"/>
                    <a:pt x="10076" y="1264"/>
                    <a:pt x="10088" y="1446"/>
                  </a:cubicBezTo>
                  <a:lnTo>
                    <a:pt x="10088" y="1450"/>
                  </a:lnTo>
                  <a:lnTo>
                    <a:pt x="10089" y="1463"/>
                  </a:lnTo>
                  <a:lnTo>
                    <a:pt x="10089" y="1465"/>
                  </a:lnTo>
                  <a:lnTo>
                    <a:pt x="10089" y="1466"/>
                  </a:lnTo>
                  <a:lnTo>
                    <a:pt x="10089" y="1477"/>
                  </a:lnTo>
                  <a:lnTo>
                    <a:pt x="10090" y="1467"/>
                  </a:lnTo>
                  <a:lnTo>
                    <a:pt x="10090" y="1457"/>
                  </a:lnTo>
                  <a:lnTo>
                    <a:pt x="10088" y="1447"/>
                  </a:lnTo>
                  <a:lnTo>
                    <a:pt x="10088" y="1446"/>
                  </a:lnTo>
                  <a:lnTo>
                    <a:pt x="10088" y="1435"/>
                  </a:lnTo>
                  <a:cubicBezTo>
                    <a:pt x="10068" y="1129"/>
                    <a:pt x="11108" y="483"/>
                    <a:pt x="11830" y="491"/>
                  </a:cubicBezTo>
                  <a:lnTo>
                    <a:pt x="18333" y="110"/>
                  </a:lnTo>
                  <a:cubicBezTo>
                    <a:pt x="18639" y="99"/>
                    <a:pt x="19043" y="35"/>
                    <a:pt x="19200" y="0"/>
                  </a:cubicBezTo>
                  <a:lnTo>
                    <a:pt x="19200" y="1958"/>
                  </a:lnTo>
                  <a:lnTo>
                    <a:pt x="0" y="19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2" name="任意多边形 687"/>
            <p:cNvSpPr/>
            <p:nvPr/>
          </p:nvSpPr>
          <p:spPr>
            <a:xfrm>
              <a:off x="0" y="5551805"/>
              <a:ext cx="12192000" cy="1243330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9200" h="1958">
                  <a:moveTo>
                    <a:pt x="0" y="1958"/>
                  </a:moveTo>
                  <a:lnTo>
                    <a:pt x="0" y="1037"/>
                  </a:lnTo>
                  <a:cubicBezTo>
                    <a:pt x="159" y="1081"/>
                    <a:pt x="641" y="1121"/>
                    <a:pt x="855" y="1120"/>
                  </a:cubicBezTo>
                  <a:lnTo>
                    <a:pt x="867" y="1120"/>
                  </a:lnTo>
                  <a:lnTo>
                    <a:pt x="880" y="1120"/>
                  </a:lnTo>
                  <a:lnTo>
                    <a:pt x="894" y="1120"/>
                  </a:lnTo>
                  <a:lnTo>
                    <a:pt x="907" y="1119"/>
                  </a:lnTo>
                  <a:cubicBezTo>
                    <a:pt x="919" y="1120"/>
                    <a:pt x="942" y="1120"/>
                    <a:pt x="945" y="1120"/>
                  </a:cubicBezTo>
                  <a:cubicBezTo>
                    <a:pt x="1074" y="1120"/>
                    <a:pt x="1275" y="1111"/>
                    <a:pt x="1319" y="1108"/>
                  </a:cubicBezTo>
                  <a:lnTo>
                    <a:pt x="8140" y="708"/>
                  </a:lnTo>
                  <a:lnTo>
                    <a:pt x="8188" y="705"/>
                  </a:lnTo>
                  <a:lnTo>
                    <a:pt x="8236" y="704"/>
                  </a:lnTo>
                  <a:lnTo>
                    <a:pt x="8284" y="703"/>
                  </a:lnTo>
                  <a:lnTo>
                    <a:pt x="8331" y="703"/>
                  </a:lnTo>
                  <a:cubicBezTo>
                    <a:pt x="9270" y="695"/>
                    <a:pt x="10076" y="1264"/>
                    <a:pt x="10088" y="1446"/>
                  </a:cubicBezTo>
                  <a:lnTo>
                    <a:pt x="10088" y="1450"/>
                  </a:lnTo>
                  <a:lnTo>
                    <a:pt x="10089" y="1463"/>
                  </a:lnTo>
                  <a:lnTo>
                    <a:pt x="10089" y="1465"/>
                  </a:lnTo>
                  <a:lnTo>
                    <a:pt x="10089" y="1466"/>
                  </a:lnTo>
                  <a:lnTo>
                    <a:pt x="10089" y="1477"/>
                  </a:lnTo>
                  <a:lnTo>
                    <a:pt x="10090" y="1467"/>
                  </a:lnTo>
                  <a:lnTo>
                    <a:pt x="10090" y="1457"/>
                  </a:lnTo>
                  <a:lnTo>
                    <a:pt x="10088" y="1447"/>
                  </a:lnTo>
                  <a:lnTo>
                    <a:pt x="10088" y="1446"/>
                  </a:lnTo>
                  <a:lnTo>
                    <a:pt x="10088" y="1435"/>
                  </a:lnTo>
                  <a:cubicBezTo>
                    <a:pt x="10068" y="1129"/>
                    <a:pt x="11108" y="483"/>
                    <a:pt x="11830" y="491"/>
                  </a:cubicBezTo>
                  <a:lnTo>
                    <a:pt x="18333" y="110"/>
                  </a:lnTo>
                  <a:cubicBezTo>
                    <a:pt x="18639" y="99"/>
                    <a:pt x="19043" y="35"/>
                    <a:pt x="19200" y="0"/>
                  </a:cubicBezTo>
                  <a:lnTo>
                    <a:pt x="19200" y="1958"/>
                  </a:lnTo>
                  <a:lnTo>
                    <a:pt x="0" y="1958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3" name="任意多边形 682"/>
            <p:cNvSpPr/>
            <p:nvPr/>
          </p:nvSpPr>
          <p:spPr>
            <a:xfrm>
              <a:off x="0" y="5584825"/>
              <a:ext cx="12192000" cy="1243330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9200" h="1958">
                  <a:moveTo>
                    <a:pt x="0" y="1958"/>
                  </a:moveTo>
                  <a:lnTo>
                    <a:pt x="0" y="1037"/>
                  </a:lnTo>
                  <a:cubicBezTo>
                    <a:pt x="159" y="1081"/>
                    <a:pt x="641" y="1121"/>
                    <a:pt x="855" y="1120"/>
                  </a:cubicBezTo>
                  <a:lnTo>
                    <a:pt x="867" y="1120"/>
                  </a:lnTo>
                  <a:lnTo>
                    <a:pt x="880" y="1120"/>
                  </a:lnTo>
                  <a:lnTo>
                    <a:pt x="894" y="1120"/>
                  </a:lnTo>
                  <a:lnTo>
                    <a:pt x="907" y="1119"/>
                  </a:lnTo>
                  <a:cubicBezTo>
                    <a:pt x="919" y="1120"/>
                    <a:pt x="942" y="1120"/>
                    <a:pt x="945" y="1120"/>
                  </a:cubicBezTo>
                  <a:cubicBezTo>
                    <a:pt x="1074" y="1120"/>
                    <a:pt x="1275" y="1111"/>
                    <a:pt x="1319" y="1108"/>
                  </a:cubicBezTo>
                  <a:lnTo>
                    <a:pt x="8140" y="708"/>
                  </a:lnTo>
                  <a:lnTo>
                    <a:pt x="8188" y="705"/>
                  </a:lnTo>
                  <a:lnTo>
                    <a:pt x="8236" y="704"/>
                  </a:lnTo>
                  <a:lnTo>
                    <a:pt x="8284" y="703"/>
                  </a:lnTo>
                  <a:lnTo>
                    <a:pt x="8331" y="703"/>
                  </a:lnTo>
                  <a:cubicBezTo>
                    <a:pt x="9270" y="695"/>
                    <a:pt x="10076" y="1264"/>
                    <a:pt x="10088" y="1446"/>
                  </a:cubicBezTo>
                  <a:lnTo>
                    <a:pt x="10088" y="1450"/>
                  </a:lnTo>
                  <a:lnTo>
                    <a:pt x="10089" y="1463"/>
                  </a:lnTo>
                  <a:lnTo>
                    <a:pt x="10089" y="1465"/>
                  </a:lnTo>
                  <a:lnTo>
                    <a:pt x="10089" y="1466"/>
                  </a:lnTo>
                  <a:lnTo>
                    <a:pt x="10089" y="1477"/>
                  </a:lnTo>
                  <a:lnTo>
                    <a:pt x="10090" y="1467"/>
                  </a:lnTo>
                  <a:lnTo>
                    <a:pt x="10090" y="1457"/>
                  </a:lnTo>
                  <a:lnTo>
                    <a:pt x="10088" y="1447"/>
                  </a:lnTo>
                  <a:lnTo>
                    <a:pt x="10088" y="1446"/>
                  </a:lnTo>
                  <a:lnTo>
                    <a:pt x="10088" y="1435"/>
                  </a:lnTo>
                  <a:cubicBezTo>
                    <a:pt x="10068" y="1129"/>
                    <a:pt x="11108" y="483"/>
                    <a:pt x="11830" y="491"/>
                  </a:cubicBezTo>
                  <a:lnTo>
                    <a:pt x="18333" y="110"/>
                  </a:lnTo>
                  <a:cubicBezTo>
                    <a:pt x="18639" y="99"/>
                    <a:pt x="19043" y="35"/>
                    <a:pt x="19200" y="0"/>
                  </a:cubicBezTo>
                  <a:lnTo>
                    <a:pt x="19200" y="1958"/>
                  </a:lnTo>
                  <a:lnTo>
                    <a:pt x="0" y="1958"/>
                  </a:lnTo>
                  <a:close/>
                </a:path>
              </a:pathLst>
            </a:custGeom>
            <a:solidFill>
              <a:schemeClr val="accent6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4" name="任意多边形 689"/>
            <p:cNvSpPr/>
            <p:nvPr/>
          </p:nvSpPr>
          <p:spPr>
            <a:xfrm>
              <a:off x="1270" y="5645785"/>
              <a:ext cx="12192000" cy="1224280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9200" h="1958">
                  <a:moveTo>
                    <a:pt x="0" y="1958"/>
                  </a:moveTo>
                  <a:lnTo>
                    <a:pt x="0" y="1037"/>
                  </a:lnTo>
                  <a:cubicBezTo>
                    <a:pt x="159" y="1081"/>
                    <a:pt x="641" y="1121"/>
                    <a:pt x="855" y="1120"/>
                  </a:cubicBezTo>
                  <a:lnTo>
                    <a:pt x="867" y="1120"/>
                  </a:lnTo>
                  <a:lnTo>
                    <a:pt x="880" y="1120"/>
                  </a:lnTo>
                  <a:lnTo>
                    <a:pt x="894" y="1120"/>
                  </a:lnTo>
                  <a:lnTo>
                    <a:pt x="907" y="1119"/>
                  </a:lnTo>
                  <a:cubicBezTo>
                    <a:pt x="919" y="1120"/>
                    <a:pt x="942" y="1120"/>
                    <a:pt x="945" y="1120"/>
                  </a:cubicBezTo>
                  <a:cubicBezTo>
                    <a:pt x="1074" y="1120"/>
                    <a:pt x="1275" y="1111"/>
                    <a:pt x="1319" y="1108"/>
                  </a:cubicBezTo>
                  <a:lnTo>
                    <a:pt x="8140" y="708"/>
                  </a:lnTo>
                  <a:lnTo>
                    <a:pt x="8188" y="705"/>
                  </a:lnTo>
                  <a:lnTo>
                    <a:pt x="8236" y="704"/>
                  </a:lnTo>
                  <a:lnTo>
                    <a:pt x="8284" y="703"/>
                  </a:lnTo>
                  <a:lnTo>
                    <a:pt x="8331" y="703"/>
                  </a:lnTo>
                  <a:cubicBezTo>
                    <a:pt x="9270" y="695"/>
                    <a:pt x="10076" y="1264"/>
                    <a:pt x="10088" y="1446"/>
                  </a:cubicBezTo>
                  <a:lnTo>
                    <a:pt x="10088" y="1450"/>
                  </a:lnTo>
                  <a:lnTo>
                    <a:pt x="10089" y="1463"/>
                  </a:lnTo>
                  <a:lnTo>
                    <a:pt x="10089" y="1465"/>
                  </a:lnTo>
                  <a:lnTo>
                    <a:pt x="10089" y="1466"/>
                  </a:lnTo>
                  <a:lnTo>
                    <a:pt x="10089" y="1477"/>
                  </a:lnTo>
                  <a:lnTo>
                    <a:pt x="10090" y="1467"/>
                  </a:lnTo>
                  <a:lnTo>
                    <a:pt x="10090" y="1457"/>
                  </a:lnTo>
                  <a:lnTo>
                    <a:pt x="10088" y="1447"/>
                  </a:lnTo>
                  <a:lnTo>
                    <a:pt x="10088" y="1446"/>
                  </a:lnTo>
                  <a:lnTo>
                    <a:pt x="10088" y="1435"/>
                  </a:lnTo>
                  <a:cubicBezTo>
                    <a:pt x="10068" y="1129"/>
                    <a:pt x="11108" y="483"/>
                    <a:pt x="11830" y="491"/>
                  </a:cubicBezTo>
                  <a:lnTo>
                    <a:pt x="18333" y="110"/>
                  </a:lnTo>
                  <a:cubicBezTo>
                    <a:pt x="18639" y="99"/>
                    <a:pt x="19043" y="35"/>
                    <a:pt x="19200" y="0"/>
                  </a:cubicBezTo>
                  <a:lnTo>
                    <a:pt x="19200" y="1958"/>
                  </a:lnTo>
                  <a:lnTo>
                    <a:pt x="0" y="1958"/>
                  </a:lnTo>
                  <a:close/>
                </a:path>
              </a:pathLst>
            </a:custGeom>
            <a:solidFill>
              <a:schemeClr val="accent6"/>
            </a:solidFill>
            <a:ln>
              <a:solidFill>
                <a:schemeClr val="accent6"/>
              </a:solidFill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</p:grpSp>
      <p:pic>
        <p:nvPicPr>
          <p:cNvPr id="14" name="图片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367" y="158491"/>
            <a:ext cx="2589836" cy="82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565467" y="1513742"/>
          <a:ext cx="11061065" cy="4643755"/>
        </p:xfrm>
        <a:graphic>
          <a:graphicData uri="http://schemas.openxmlformats.org/drawingml/2006/table">
            <a:tbl>
              <a:tblPr firstRow="1" bandRow="1">
                <a:tableStyleId>{3A94BE00-C156-48F1-AE0D-31F0B4A650D9}</a:tableStyleId>
              </a:tblPr>
              <a:tblGrid>
                <a:gridCol w="1134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6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24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63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7705">
                <a:tc>
                  <a:txBody>
                    <a:bodyPr/>
                    <a:lstStyle/>
                    <a:p>
                      <a:pPr algn="ctr" fontAlgn="t">
                        <a:lnSpc>
                          <a:spcPct val="120000"/>
                        </a:lnSpc>
                      </a:pPr>
                      <a:r>
                        <a:rPr lang="zh-CN" altLang="en-US" sz="1600" spc="120"/>
                        <a:t>队员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20000"/>
                        </a:lnSpc>
                      </a:pPr>
                      <a:r>
                        <a:rPr lang="zh-CN" altLang="en-US" sz="1600" spc="120"/>
                        <a:t>角色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20000"/>
                        </a:lnSpc>
                      </a:pPr>
                      <a:r>
                        <a:rPr lang="zh-CN" altLang="en-US" sz="1600" spc="120"/>
                        <a:t>负责模块（对应</a:t>
                      </a:r>
                      <a:r>
                        <a:rPr lang="en-US" altLang="zh-CN" sz="1600" spc="120"/>
                        <a:t> crates</a:t>
                      </a:r>
                      <a:r>
                        <a:rPr lang="zh-CN" altLang="en-US" sz="1600" spc="120"/>
                        <a:t>）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20000"/>
                        </a:lnSpc>
                      </a:pPr>
                      <a:r>
                        <a:rPr lang="zh-CN" altLang="en-US" sz="1600" spc="120"/>
                        <a:t>主要工作</a:t>
                      </a:r>
                    </a:p>
                  </a:txBody>
                  <a:tcPr marL="254000" marR="254000" marT="177800" marB="1778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165">
                <a:tc>
                  <a:txBody>
                    <a:bodyPr/>
                    <a:lstStyle/>
                    <a:p>
                      <a:pPr algn="ctr" fontAlgn="t" latinLnBrk="0">
                        <a:lnSpc>
                          <a:spcPct val="120000"/>
                        </a:lnSpc>
                      </a:pPr>
                      <a:r>
                        <a:rPr lang="zh-CN" altLang="en-US" sz="1400"/>
                        <a:t>王瑞明（队长）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l" fontAlgn="t" latinLnBrk="0">
                        <a:lnSpc>
                          <a:spcPct val="120000"/>
                        </a:lnSpc>
                      </a:pPr>
                      <a:r>
                        <a:rPr lang="zh-CN" altLang="en-US" sz="1400"/>
                        <a:t>内核采集 </a:t>
                      </a:r>
                      <a:r>
                        <a:rPr lang="en-US" altLang="zh-CN" sz="1400"/>
                        <a:t>/ eBPF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 fontAlgn="t" latinLnBrk="1">
                        <a:lnSpc>
                          <a:spcPct val="120000"/>
                        </a:lnSpc>
                      </a:pPr>
                      <a:r>
                        <a:rPr lang="en-US" altLang="zh-CN" sz="1400"/>
                        <a:t>bpf/*.c</a:t>
                      </a:r>
                      <a:r>
                        <a:rPr lang="zh-CN" altLang="en-US" sz="1400"/>
                        <a:t>、</a:t>
                      </a:r>
                      <a:r>
                        <a:rPr lang="en-US" altLang="zh-CN" sz="1400"/>
                        <a:t>veriskein-bpf</a:t>
                      </a:r>
                      <a:r>
                        <a:rPr lang="zh-CN" altLang="en-US" sz="1400"/>
                        <a:t>、</a:t>
                      </a:r>
                      <a:r>
                        <a:rPr lang="en-US" altLang="zh-CN" sz="1400"/>
                        <a:t>veriskein-collector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l" fontAlgn="t" latinLnBrk="0">
                        <a:lnSpc>
                          <a:spcPct val="120000"/>
                        </a:lnSpc>
                      </a:pPr>
                      <a:r>
                        <a:rPr lang="en-US" altLang="zh-CN" sz="1400"/>
                        <a:t>kprobes/tracepoints </a:t>
                      </a:r>
                      <a:r>
                        <a:rPr lang="zh-CN" altLang="en-US" sz="1400"/>
                        <a:t>进程</a:t>
                      </a:r>
                      <a:r>
                        <a:rPr lang="en-US" altLang="zh-CN" sz="1400"/>
                        <a:t>·</a:t>
                      </a:r>
                      <a:r>
                        <a:rPr lang="zh-CN" altLang="en-US" sz="1400"/>
                        <a:t>文件</a:t>
                      </a:r>
                      <a:r>
                        <a:rPr lang="en-US" altLang="zh-CN" sz="1400"/>
                        <a:t>·</a:t>
                      </a:r>
                      <a:r>
                        <a:rPr lang="zh-CN" altLang="en-US" sz="1400"/>
                        <a:t>网络采集、</a:t>
                      </a:r>
                      <a:r>
                        <a:rPr lang="en-US" altLang="zh-CN" sz="1400"/>
                        <a:t>OpenSSL uprobes</a:t>
                      </a:r>
                      <a:r>
                        <a:rPr lang="zh-CN" altLang="en-US" sz="1400"/>
                        <a:t>、事件 </a:t>
                      </a:r>
                      <a:r>
                        <a:rPr lang="en-US" altLang="zh-CN" sz="1400"/>
                        <a:t>ABI</a:t>
                      </a:r>
                    </a:p>
                  </a:txBody>
                  <a:tcPr marL="254000" marR="254000" marT="177800" marB="1778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0750">
                <a:tc>
                  <a:txBody>
                    <a:bodyPr/>
                    <a:lstStyle/>
                    <a:p>
                      <a:pPr algn="ctr" fontAlgn="t" latinLnBrk="0">
                        <a:lnSpc>
                          <a:spcPct val="120000"/>
                        </a:lnSpc>
                      </a:pPr>
                      <a:endParaRPr lang="en-US" altLang="zh-CN" sz="1400"/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l" fontAlgn="t" latinLnBrk="0">
                        <a:lnSpc>
                          <a:spcPct val="120000"/>
                        </a:lnSpc>
                      </a:pPr>
                      <a:r>
                        <a:rPr lang="zh-CN" altLang="en-US" sz="1400"/>
                        <a:t>用户态分析 </a:t>
                      </a:r>
                      <a:r>
                        <a:rPr lang="en-US" altLang="zh-CN" sz="1400"/>
                        <a:t>/ </a:t>
                      </a:r>
                      <a:r>
                        <a:rPr lang="zh-CN" altLang="en-US" sz="1400"/>
                        <a:t>关联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 fontAlgn="t" latinLnBrk="1">
                        <a:lnSpc>
                          <a:spcPct val="120000"/>
                        </a:lnSpc>
                      </a:pPr>
                      <a:r>
                        <a:rPr lang="en-US" altLang="zh-CN" sz="1400"/>
                        <a:t>veriskein-normalizer</a:t>
                      </a:r>
                      <a:r>
                        <a:rPr lang="zh-CN" altLang="en-US" sz="1400"/>
                        <a:t>、</a:t>
                      </a:r>
                      <a:r>
                        <a:rPr lang="en-US" altLang="zh-CN" sz="1400"/>
                        <a:t>veriskein-graph</a:t>
                      </a:r>
                      <a:r>
                        <a:rPr lang="zh-CN" altLang="en-US" sz="1400"/>
                        <a:t>、</a:t>
                      </a:r>
                      <a:r>
                        <a:rPr lang="en-US" altLang="zh-CN" sz="1400"/>
                        <a:t>veriskein-correlator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l" fontAlgn="t" latinLnBrk="0">
                        <a:lnSpc>
                          <a:spcPct val="120000"/>
                        </a:lnSpc>
                      </a:pPr>
                      <a:r>
                        <a:rPr lang="zh-CN" altLang="en-US" sz="1400"/>
                        <a:t>状态归一化、会话图、跨层因果关联（语义鸿沟）</a:t>
                      </a:r>
                    </a:p>
                  </a:txBody>
                  <a:tcPr marL="254000" marR="254000" marT="177800" marB="1778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1385">
                <a:tc>
                  <a:txBody>
                    <a:bodyPr/>
                    <a:lstStyle/>
                    <a:p>
                      <a:pPr algn="ctr" fontAlgn="t" latinLnBrk="0">
                        <a:lnSpc>
                          <a:spcPct val="120000"/>
                        </a:lnSpc>
                      </a:pPr>
                      <a:r>
                        <a:rPr lang="zh-CN" sz="1400"/>
                        <a:t>刘慧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l" fontAlgn="t" latinLnBrk="0">
                        <a:lnSpc>
                          <a:spcPct val="120000"/>
                        </a:lnSpc>
                      </a:pPr>
                      <a:r>
                        <a:rPr lang="zh-CN" altLang="en-US" sz="1400"/>
                        <a:t>检测 </a:t>
                      </a:r>
                      <a:r>
                        <a:rPr lang="en-US" altLang="zh-CN" sz="1400"/>
                        <a:t>/ </a:t>
                      </a:r>
                      <a:r>
                        <a:rPr lang="zh-CN" altLang="en-US" sz="1400"/>
                        <a:t>告警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 fontAlgn="t" latinLnBrk="1">
                        <a:lnSpc>
                          <a:spcPct val="120000"/>
                        </a:lnSpc>
                      </a:pPr>
                      <a:r>
                        <a:rPr lang="en-US" altLang="zh-CN" sz="1400"/>
                        <a:t>veriskein-detectors</a:t>
                      </a:r>
                      <a:r>
                        <a:rPr lang="zh-CN" altLang="en-US" sz="1400"/>
                        <a:t>、</a:t>
                      </a:r>
                      <a:r>
                        <a:rPr lang="en-US" altLang="zh-CN" sz="1400"/>
                        <a:t>veriskein-alert</a:t>
                      </a:r>
                      <a:r>
                        <a:rPr lang="zh-CN" altLang="en-US" sz="1400"/>
                        <a:t>、</a:t>
                      </a:r>
                      <a:r>
                        <a:rPr lang="en-US" altLang="zh-CN" sz="1400"/>
                        <a:t>veriskein-daemon</a:t>
                      </a:r>
                      <a:r>
                        <a:rPr lang="zh-CN" altLang="en-US" sz="1400"/>
                        <a:t>、</a:t>
                      </a:r>
                      <a:r>
                        <a:rPr lang="en-US" altLang="zh-CN" sz="1400"/>
                        <a:t>veriskein-ipc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l" fontAlgn="t" latinLnBrk="0">
                        <a:lnSpc>
                          <a:spcPct val="120000"/>
                        </a:lnSpc>
                      </a:pPr>
                      <a:r>
                        <a:rPr lang="zh-CN" altLang="en-US" sz="1400"/>
                        <a:t>死循环</a:t>
                      </a:r>
                      <a:r>
                        <a:rPr lang="en-US" altLang="zh-CN" sz="1400"/>
                        <a:t>/</a:t>
                      </a:r>
                      <a:r>
                        <a:rPr lang="zh-CN" altLang="en-US" sz="1400"/>
                        <a:t>敏感文件</a:t>
                      </a:r>
                      <a:r>
                        <a:rPr lang="en-US" altLang="zh-CN" sz="1400"/>
                        <a:t>/</a:t>
                      </a:r>
                      <a:r>
                        <a:rPr lang="zh-CN" altLang="en-US" sz="1400"/>
                        <a:t>越权 </a:t>
                      </a:r>
                      <a:r>
                        <a:rPr lang="en-US" altLang="zh-CN" sz="1400"/>
                        <a:t>Shell </a:t>
                      </a:r>
                      <a:r>
                        <a:rPr lang="zh-CN" altLang="en-US" sz="1400"/>
                        <a:t>检测、告警 </a:t>
                      </a:r>
                      <a:r>
                        <a:rPr lang="en-US" altLang="zh-CN" sz="1400"/>
                        <a:t>schema</a:t>
                      </a:r>
                      <a:r>
                        <a:rPr lang="zh-CN" altLang="en-US" sz="1400"/>
                        <a:t>、</a:t>
                      </a:r>
                      <a:r>
                        <a:rPr lang="en-US" altLang="zh-CN" sz="1400"/>
                        <a:t>IPC</a:t>
                      </a:r>
                    </a:p>
                  </a:txBody>
                  <a:tcPr marL="254000" marR="254000" marT="177800" marB="1778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0750">
                <a:tc>
                  <a:txBody>
                    <a:bodyPr/>
                    <a:lstStyle/>
                    <a:p>
                      <a:pPr algn="ctr" fontAlgn="t" latinLnBrk="0">
                        <a:lnSpc>
                          <a:spcPct val="120000"/>
                        </a:lnSpc>
                      </a:pPr>
                      <a:endParaRPr lang="en-US" altLang="zh-CN" sz="1400"/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l" fontAlgn="t" latinLnBrk="0">
                        <a:lnSpc>
                          <a:spcPct val="120000"/>
                        </a:lnSpc>
                      </a:pPr>
                      <a:r>
                        <a:rPr lang="zh-CN" altLang="en-US" sz="1400"/>
                        <a:t>测试 </a:t>
                      </a:r>
                      <a:r>
                        <a:rPr lang="en-US" altLang="zh-CN" sz="1400"/>
                        <a:t>/ </a:t>
                      </a:r>
                      <a:r>
                        <a:rPr lang="zh-CN" altLang="en-US" sz="1400"/>
                        <a:t>性能 </a:t>
                      </a:r>
                      <a:r>
                        <a:rPr lang="en-US" altLang="zh-CN" sz="1400"/>
                        <a:t>/ </a:t>
                      </a:r>
                      <a:r>
                        <a:rPr lang="zh-CN" altLang="en-US" sz="1400"/>
                        <a:t>文档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 fontAlgn="t" latinLnBrk="1">
                        <a:lnSpc>
                          <a:spcPct val="120000"/>
                        </a:lnSpc>
                      </a:pPr>
                      <a:r>
                        <a:rPr lang="en-US" altLang="zh-CN" sz="1400"/>
                        <a:t>veriskein-test</a:t>
                      </a:r>
                      <a:r>
                        <a:rPr lang="zh-CN" altLang="en-US" sz="1400"/>
                        <a:t>、</a:t>
                      </a:r>
                      <a:r>
                        <a:rPr lang="en-US" altLang="zh-CN" sz="1400"/>
                        <a:t>veriskein-perf</a:t>
                      </a:r>
                      <a:r>
                        <a:rPr lang="zh-CN" altLang="en-US" sz="1400"/>
                        <a:t>、</a:t>
                      </a:r>
                      <a:r>
                        <a:rPr lang="en-US" altLang="zh-CN" sz="1400"/>
                        <a:t>tests/</a:t>
                      </a:r>
                      <a:r>
                        <a:rPr lang="zh-CN" altLang="en-US" sz="1400"/>
                        <a:t>、</a:t>
                      </a:r>
                      <a:r>
                        <a:rPr lang="en-US" altLang="zh-CN" sz="1400"/>
                        <a:t>impl_docs/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l" fontAlgn="t" latinLnBrk="0">
                        <a:lnSpc>
                          <a:spcPct val="120000"/>
                        </a:lnSpc>
                      </a:pPr>
                      <a:r>
                        <a:rPr lang="en-US" altLang="zh-CN" sz="1400"/>
                        <a:t>replay/scenario </a:t>
                      </a:r>
                      <a:r>
                        <a:rPr lang="zh-CN" altLang="en-US" sz="1400"/>
                        <a:t>测试、性能预算、设计文档与 </a:t>
                      </a:r>
                      <a:r>
                        <a:rPr lang="en-US" altLang="zh-CN" sz="1400"/>
                        <a:t>PPT</a:t>
                      </a:r>
                    </a:p>
                  </a:txBody>
                  <a:tcPr marL="254000" marR="254000" marT="177800" marB="1778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803910" y="914400"/>
            <a:ext cx="21824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1. </a:t>
            </a:r>
            <a:r>
              <a:rPr lang="zh-CN" altLang="en-US" b="1"/>
              <a:t>团队成员分工</a:t>
            </a:r>
          </a:p>
        </p:txBody>
      </p:sp>
      <p:sp>
        <p:nvSpPr>
          <p:cNvPr id="4" name="椭圆 3"/>
          <p:cNvSpPr/>
          <p:nvPr/>
        </p:nvSpPr>
        <p:spPr>
          <a:xfrm>
            <a:off x="396875" y="990550"/>
            <a:ext cx="216000" cy="216000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293995" y="2310765"/>
            <a:ext cx="594296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 dirty="0">
                <a:solidFill>
                  <a:schemeClr val="tx1"/>
                </a:solidFill>
              </a:rPr>
              <a:t>开发进度安排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293995" y="3577590"/>
            <a:ext cx="62484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Development Schedule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177925" y="1510665"/>
            <a:ext cx="3314700" cy="3769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3900" b="1" i="1" dirty="0">
                <a:solidFill>
                  <a:schemeClr val="accent6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uFillTx/>
                <a:latin typeface="方正小标宋简体" panose="03000509000000000000" charset="-122"/>
                <a:ea typeface="方正小标宋简体" panose="03000509000000000000" charset="-122"/>
              </a:rPr>
              <a:t>02</a:t>
            </a: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-9525" y="4955540"/>
            <a:ext cx="3952875" cy="0"/>
          </a:xfrm>
          <a:prstGeom prst="line">
            <a:avLst/>
          </a:prstGeom>
          <a:solidFill>
            <a:srgbClr val="9B0000"/>
          </a:solidFill>
          <a:ln>
            <a:gradFill>
              <a:gsLst>
                <a:gs pos="0">
                  <a:schemeClr val="accent6"/>
                </a:gs>
                <a:gs pos="50000">
                  <a:schemeClr val="accent6"/>
                </a:gs>
                <a:gs pos="100000">
                  <a:schemeClr val="bg1">
                    <a:alpha val="50000"/>
                  </a:schemeClr>
                </a:gs>
              </a:gsLst>
              <a:lin ang="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 flipV="1">
            <a:off x="2649855" y="4736465"/>
            <a:ext cx="1293495" cy="15621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/>
        </p:nvCxnSpPr>
        <p:spPr>
          <a:xfrm flipH="1">
            <a:off x="8239125" y="1696085"/>
            <a:ext cx="3952875" cy="0"/>
          </a:xfrm>
          <a:prstGeom prst="line">
            <a:avLst/>
          </a:prstGeom>
          <a:solidFill>
            <a:srgbClr val="9B0000"/>
          </a:solidFill>
          <a:ln>
            <a:gradFill>
              <a:gsLst>
                <a:gs pos="0">
                  <a:schemeClr val="accent6"/>
                </a:gs>
                <a:gs pos="50000">
                  <a:schemeClr val="accent6"/>
                </a:gs>
                <a:gs pos="100000">
                  <a:schemeClr val="bg1">
                    <a:alpha val="50000"/>
                  </a:schemeClr>
                </a:gs>
              </a:gsLst>
              <a:lin ang="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 flipH="1">
            <a:off x="8239125" y="1758950"/>
            <a:ext cx="1293495" cy="15621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0" y="5507990"/>
            <a:ext cx="12195175" cy="1362075"/>
            <a:chOff x="0" y="5507990"/>
            <a:chExt cx="12195175" cy="1362075"/>
          </a:xfrm>
        </p:grpSpPr>
        <p:sp>
          <p:nvSpPr>
            <p:cNvPr id="21" name="任意多边形 688"/>
            <p:cNvSpPr/>
            <p:nvPr/>
          </p:nvSpPr>
          <p:spPr>
            <a:xfrm>
              <a:off x="3175" y="5507990"/>
              <a:ext cx="12192000" cy="1243330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9200" h="1958">
                  <a:moveTo>
                    <a:pt x="0" y="1958"/>
                  </a:moveTo>
                  <a:lnTo>
                    <a:pt x="0" y="1037"/>
                  </a:lnTo>
                  <a:cubicBezTo>
                    <a:pt x="159" y="1081"/>
                    <a:pt x="641" y="1121"/>
                    <a:pt x="855" y="1120"/>
                  </a:cubicBezTo>
                  <a:lnTo>
                    <a:pt x="867" y="1120"/>
                  </a:lnTo>
                  <a:lnTo>
                    <a:pt x="880" y="1120"/>
                  </a:lnTo>
                  <a:lnTo>
                    <a:pt x="894" y="1120"/>
                  </a:lnTo>
                  <a:lnTo>
                    <a:pt x="907" y="1119"/>
                  </a:lnTo>
                  <a:cubicBezTo>
                    <a:pt x="919" y="1120"/>
                    <a:pt x="942" y="1120"/>
                    <a:pt x="945" y="1120"/>
                  </a:cubicBezTo>
                  <a:cubicBezTo>
                    <a:pt x="1074" y="1120"/>
                    <a:pt x="1275" y="1111"/>
                    <a:pt x="1319" y="1108"/>
                  </a:cubicBezTo>
                  <a:lnTo>
                    <a:pt x="8140" y="708"/>
                  </a:lnTo>
                  <a:lnTo>
                    <a:pt x="8188" y="705"/>
                  </a:lnTo>
                  <a:lnTo>
                    <a:pt x="8236" y="704"/>
                  </a:lnTo>
                  <a:lnTo>
                    <a:pt x="8284" y="703"/>
                  </a:lnTo>
                  <a:lnTo>
                    <a:pt x="8331" y="703"/>
                  </a:lnTo>
                  <a:cubicBezTo>
                    <a:pt x="9270" y="695"/>
                    <a:pt x="10076" y="1264"/>
                    <a:pt x="10088" y="1446"/>
                  </a:cubicBezTo>
                  <a:lnTo>
                    <a:pt x="10088" y="1450"/>
                  </a:lnTo>
                  <a:lnTo>
                    <a:pt x="10089" y="1463"/>
                  </a:lnTo>
                  <a:lnTo>
                    <a:pt x="10089" y="1465"/>
                  </a:lnTo>
                  <a:lnTo>
                    <a:pt x="10089" y="1466"/>
                  </a:lnTo>
                  <a:lnTo>
                    <a:pt x="10089" y="1477"/>
                  </a:lnTo>
                  <a:lnTo>
                    <a:pt x="10090" y="1467"/>
                  </a:lnTo>
                  <a:lnTo>
                    <a:pt x="10090" y="1457"/>
                  </a:lnTo>
                  <a:lnTo>
                    <a:pt x="10088" y="1447"/>
                  </a:lnTo>
                  <a:lnTo>
                    <a:pt x="10088" y="1446"/>
                  </a:lnTo>
                  <a:lnTo>
                    <a:pt x="10088" y="1435"/>
                  </a:lnTo>
                  <a:cubicBezTo>
                    <a:pt x="10068" y="1129"/>
                    <a:pt x="11108" y="483"/>
                    <a:pt x="11830" y="491"/>
                  </a:cubicBezTo>
                  <a:lnTo>
                    <a:pt x="18333" y="110"/>
                  </a:lnTo>
                  <a:cubicBezTo>
                    <a:pt x="18639" y="99"/>
                    <a:pt x="19043" y="35"/>
                    <a:pt x="19200" y="0"/>
                  </a:cubicBezTo>
                  <a:lnTo>
                    <a:pt x="19200" y="1958"/>
                  </a:lnTo>
                  <a:lnTo>
                    <a:pt x="0" y="19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2" name="任意多边形 687"/>
            <p:cNvSpPr/>
            <p:nvPr/>
          </p:nvSpPr>
          <p:spPr>
            <a:xfrm>
              <a:off x="0" y="5551805"/>
              <a:ext cx="12192000" cy="1243330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9200" h="1958">
                  <a:moveTo>
                    <a:pt x="0" y="1958"/>
                  </a:moveTo>
                  <a:lnTo>
                    <a:pt x="0" y="1037"/>
                  </a:lnTo>
                  <a:cubicBezTo>
                    <a:pt x="159" y="1081"/>
                    <a:pt x="641" y="1121"/>
                    <a:pt x="855" y="1120"/>
                  </a:cubicBezTo>
                  <a:lnTo>
                    <a:pt x="867" y="1120"/>
                  </a:lnTo>
                  <a:lnTo>
                    <a:pt x="880" y="1120"/>
                  </a:lnTo>
                  <a:lnTo>
                    <a:pt x="894" y="1120"/>
                  </a:lnTo>
                  <a:lnTo>
                    <a:pt x="907" y="1119"/>
                  </a:lnTo>
                  <a:cubicBezTo>
                    <a:pt x="919" y="1120"/>
                    <a:pt x="942" y="1120"/>
                    <a:pt x="945" y="1120"/>
                  </a:cubicBezTo>
                  <a:cubicBezTo>
                    <a:pt x="1074" y="1120"/>
                    <a:pt x="1275" y="1111"/>
                    <a:pt x="1319" y="1108"/>
                  </a:cubicBezTo>
                  <a:lnTo>
                    <a:pt x="8140" y="708"/>
                  </a:lnTo>
                  <a:lnTo>
                    <a:pt x="8188" y="705"/>
                  </a:lnTo>
                  <a:lnTo>
                    <a:pt x="8236" y="704"/>
                  </a:lnTo>
                  <a:lnTo>
                    <a:pt x="8284" y="703"/>
                  </a:lnTo>
                  <a:lnTo>
                    <a:pt x="8331" y="703"/>
                  </a:lnTo>
                  <a:cubicBezTo>
                    <a:pt x="9270" y="695"/>
                    <a:pt x="10076" y="1264"/>
                    <a:pt x="10088" y="1446"/>
                  </a:cubicBezTo>
                  <a:lnTo>
                    <a:pt x="10088" y="1450"/>
                  </a:lnTo>
                  <a:lnTo>
                    <a:pt x="10089" y="1463"/>
                  </a:lnTo>
                  <a:lnTo>
                    <a:pt x="10089" y="1465"/>
                  </a:lnTo>
                  <a:lnTo>
                    <a:pt x="10089" y="1466"/>
                  </a:lnTo>
                  <a:lnTo>
                    <a:pt x="10089" y="1477"/>
                  </a:lnTo>
                  <a:lnTo>
                    <a:pt x="10090" y="1467"/>
                  </a:lnTo>
                  <a:lnTo>
                    <a:pt x="10090" y="1457"/>
                  </a:lnTo>
                  <a:lnTo>
                    <a:pt x="10088" y="1447"/>
                  </a:lnTo>
                  <a:lnTo>
                    <a:pt x="10088" y="1446"/>
                  </a:lnTo>
                  <a:lnTo>
                    <a:pt x="10088" y="1435"/>
                  </a:lnTo>
                  <a:cubicBezTo>
                    <a:pt x="10068" y="1129"/>
                    <a:pt x="11108" y="483"/>
                    <a:pt x="11830" y="491"/>
                  </a:cubicBezTo>
                  <a:lnTo>
                    <a:pt x="18333" y="110"/>
                  </a:lnTo>
                  <a:cubicBezTo>
                    <a:pt x="18639" y="99"/>
                    <a:pt x="19043" y="35"/>
                    <a:pt x="19200" y="0"/>
                  </a:cubicBezTo>
                  <a:lnTo>
                    <a:pt x="19200" y="1958"/>
                  </a:lnTo>
                  <a:lnTo>
                    <a:pt x="0" y="1958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3" name="任意多边形 682"/>
            <p:cNvSpPr/>
            <p:nvPr/>
          </p:nvSpPr>
          <p:spPr>
            <a:xfrm>
              <a:off x="0" y="5584825"/>
              <a:ext cx="12192000" cy="1243330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9200" h="1958">
                  <a:moveTo>
                    <a:pt x="0" y="1958"/>
                  </a:moveTo>
                  <a:lnTo>
                    <a:pt x="0" y="1037"/>
                  </a:lnTo>
                  <a:cubicBezTo>
                    <a:pt x="159" y="1081"/>
                    <a:pt x="641" y="1121"/>
                    <a:pt x="855" y="1120"/>
                  </a:cubicBezTo>
                  <a:lnTo>
                    <a:pt x="867" y="1120"/>
                  </a:lnTo>
                  <a:lnTo>
                    <a:pt x="880" y="1120"/>
                  </a:lnTo>
                  <a:lnTo>
                    <a:pt x="894" y="1120"/>
                  </a:lnTo>
                  <a:lnTo>
                    <a:pt x="907" y="1119"/>
                  </a:lnTo>
                  <a:cubicBezTo>
                    <a:pt x="919" y="1120"/>
                    <a:pt x="942" y="1120"/>
                    <a:pt x="945" y="1120"/>
                  </a:cubicBezTo>
                  <a:cubicBezTo>
                    <a:pt x="1074" y="1120"/>
                    <a:pt x="1275" y="1111"/>
                    <a:pt x="1319" y="1108"/>
                  </a:cubicBezTo>
                  <a:lnTo>
                    <a:pt x="8140" y="708"/>
                  </a:lnTo>
                  <a:lnTo>
                    <a:pt x="8188" y="705"/>
                  </a:lnTo>
                  <a:lnTo>
                    <a:pt x="8236" y="704"/>
                  </a:lnTo>
                  <a:lnTo>
                    <a:pt x="8284" y="703"/>
                  </a:lnTo>
                  <a:lnTo>
                    <a:pt x="8331" y="703"/>
                  </a:lnTo>
                  <a:cubicBezTo>
                    <a:pt x="9270" y="695"/>
                    <a:pt x="10076" y="1264"/>
                    <a:pt x="10088" y="1446"/>
                  </a:cubicBezTo>
                  <a:lnTo>
                    <a:pt x="10088" y="1450"/>
                  </a:lnTo>
                  <a:lnTo>
                    <a:pt x="10089" y="1463"/>
                  </a:lnTo>
                  <a:lnTo>
                    <a:pt x="10089" y="1465"/>
                  </a:lnTo>
                  <a:lnTo>
                    <a:pt x="10089" y="1466"/>
                  </a:lnTo>
                  <a:lnTo>
                    <a:pt x="10089" y="1477"/>
                  </a:lnTo>
                  <a:lnTo>
                    <a:pt x="10090" y="1467"/>
                  </a:lnTo>
                  <a:lnTo>
                    <a:pt x="10090" y="1457"/>
                  </a:lnTo>
                  <a:lnTo>
                    <a:pt x="10088" y="1447"/>
                  </a:lnTo>
                  <a:lnTo>
                    <a:pt x="10088" y="1446"/>
                  </a:lnTo>
                  <a:lnTo>
                    <a:pt x="10088" y="1435"/>
                  </a:lnTo>
                  <a:cubicBezTo>
                    <a:pt x="10068" y="1129"/>
                    <a:pt x="11108" y="483"/>
                    <a:pt x="11830" y="491"/>
                  </a:cubicBezTo>
                  <a:lnTo>
                    <a:pt x="18333" y="110"/>
                  </a:lnTo>
                  <a:cubicBezTo>
                    <a:pt x="18639" y="99"/>
                    <a:pt x="19043" y="35"/>
                    <a:pt x="19200" y="0"/>
                  </a:cubicBezTo>
                  <a:lnTo>
                    <a:pt x="19200" y="1958"/>
                  </a:lnTo>
                  <a:lnTo>
                    <a:pt x="0" y="1958"/>
                  </a:lnTo>
                  <a:close/>
                </a:path>
              </a:pathLst>
            </a:custGeom>
            <a:solidFill>
              <a:schemeClr val="accent6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4" name="任意多边形 689"/>
            <p:cNvSpPr/>
            <p:nvPr/>
          </p:nvSpPr>
          <p:spPr>
            <a:xfrm>
              <a:off x="1270" y="5645785"/>
              <a:ext cx="12192000" cy="1224280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9200" h="1958">
                  <a:moveTo>
                    <a:pt x="0" y="1958"/>
                  </a:moveTo>
                  <a:lnTo>
                    <a:pt x="0" y="1037"/>
                  </a:lnTo>
                  <a:cubicBezTo>
                    <a:pt x="159" y="1081"/>
                    <a:pt x="641" y="1121"/>
                    <a:pt x="855" y="1120"/>
                  </a:cubicBezTo>
                  <a:lnTo>
                    <a:pt x="867" y="1120"/>
                  </a:lnTo>
                  <a:lnTo>
                    <a:pt x="880" y="1120"/>
                  </a:lnTo>
                  <a:lnTo>
                    <a:pt x="894" y="1120"/>
                  </a:lnTo>
                  <a:lnTo>
                    <a:pt x="907" y="1119"/>
                  </a:lnTo>
                  <a:cubicBezTo>
                    <a:pt x="919" y="1120"/>
                    <a:pt x="942" y="1120"/>
                    <a:pt x="945" y="1120"/>
                  </a:cubicBezTo>
                  <a:cubicBezTo>
                    <a:pt x="1074" y="1120"/>
                    <a:pt x="1275" y="1111"/>
                    <a:pt x="1319" y="1108"/>
                  </a:cubicBezTo>
                  <a:lnTo>
                    <a:pt x="8140" y="708"/>
                  </a:lnTo>
                  <a:lnTo>
                    <a:pt x="8188" y="705"/>
                  </a:lnTo>
                  <a:lnTo>
                    <a:pt x="8236" y="704"/>
                  </a:lnTo>
                  <a:lnTo>
                    <a:pt x="8284" y="703"/>
                  </a:lnTo>
                  <a:lnTo>
                    <a:pt x="8331" y="703"/>
                  </a:lnTo>
                  <a:cubicBezTo>
                    <a:pt x="9270" y="695"/>
                    <a:pt x="10076" y="1264"/>
                    <a:pt x="10088" y="1446"/>
                  </a:cubicBezTo>
                  <a:lnTo>
                    <a:pt x="10088" y="1450"/>
                  </a:lnTo>
                  <a:lnTo>
                    <a:pt x="10089" y="1463"/>
                  </a:lnTo>
                  <a:lnTo>
                    <a:pt x="10089" y="1465"/>
                  </a:lnTo>
                  <a:lnTo>
                    <a:pt x="10089" y="1466"/>
                  </a:lnTo>
                  <a:lnTo>
                    <a:pt x="10089" y="1477"/>
                  </a:lnTo>
                  <a:lnTo>
                    <a:pt x="10090" y="1467"/>
                  </a:lnTo>
                  <a:lnTo>
                    <a:pt x="10090" y="1457"/>
                  </a:lnTo>
                  <a:lnTo>
                    <a:pt x="10088" y="1447"/>
                  </a:lnTo>
                  <a:lnTo>
                    <a:pt x="10088" y="1446"/>
                  </a:lnTo>
                  <a:lnTo>
                    <a:pt x="10088" y="1435"/>
                  </a:lnTo>
                  <a:cubicBezTo>
                    <a:pt x="10068" y="1129"/>
                    <a:pt x="11108" y="483"/>
                    <a:pt x="11830" y="491"/>
                  </a:cubicBezTo>
                  <a:lnTo>
                    <a:pt x="18333" y="110"/>
                  </a:lnTo>
                  <a:cubicBezTo>
                    <a:pt x="18639" y="99"/>
                    <a:pt x="19043" y="35"/>
                    <a:pt x="19200" y="0"/>
                  </a:cubicBezTo>
                  <a:lnTo>
                    <a:pt x="19200" y="1958"/>
                  </a:lnTo>
                  <a:lnTo>
                    <a:pt x="0" y="1958"/>
                  </a:lnTo>
                  <a:close/>
                </a:path>
              </a:pathLst>
            </a:custGeom>
            <a:solidFill>
              <a:schemeClr val="accent6"/>
            </a:solidFill>
            <a:ln>
              <a:solidFill>
                <a:schemeClr val="accent6"/>
              </a:solidFill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</p:grpSp>
      <p:pic>
        <p:nvPicPr>
          <p:cNvPr id="14" name="图片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367" y="158491"/>
            <a:ext cx="2589836" cy="82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803910" y="914400"/>
            <a:ext cx="21824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2. 1 </a:t>
            </a:r>
            <a:r>
              <a:rPr lang="zh-CN" altLang="en-US" b="1"/>
              <a:t>开发进度安排</a:t>
            </a:r>
          </a:p>
        </p:txBody>
      </p:sp>
      <p:sp>
        <p:nvSpPr>
          <p:cNvPr id="4" name="椭圆 3"/>
          <p:cNvSpPr/>
          <p:nvPr/>
        </p:nvSpPr>
        <p:spPr>
          <a:xfrm>
            <a:off x="396875" y="990550"/>
            <a:ext cx="216000" cy="216000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6" name="表格 5"/>
          <p:cNvGraphicFramePr/>
          <p:nvPr/>
        </p:nvGraphicFramePr>
        <p:xfrm>
          <a:off x="614680" y="1528030"/>
          <a:ext cx="10962640" cy="4615180"/>
        </p:xfrm>
        <a:graphic>
          <a:graphicData uri="http://schemas.openxmlformats.org/drawingml/2006/table">
            <a:tbl>
              <a:tblPr firstRow="1" bandRow="1">
                <a:tableStyleId>{8E57E7DA-3EFB-49D3-B587-F5069B199053}</a:tableStyleId>
              </a:tblPr>
              <a:tblGrid>
                <a:gridCol w="3376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4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7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43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2785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600" spc="120">
                          <a:latin typeface="Calibri" panose="020F0502020204030204" charset="0"/>
                          <a:ea typeface="Arial" panose="020B0604020202020204" pitchFamily="34" charset="0"/>
                        </a:rPr>
                        <a:t>阶段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600" spc="120">
                          <a:latin typeface="Calibri" panose="020F0502020204030204" charset="0"/>
                          <a:ea typeface="Arial" panose="020B0604020202020204" pitchFamily="34" charset="0"/>
                        </a:rPr>
                        <a:t>时间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20000"/>
                        </a:lnSpc>
                      </a:pPr>
                      <a:r>
                        <a:rPr lang="zh-CN" altLang="en-US" sz="1600" spc="120">
                          <a:latin typeface="Calibri" panose="020F0502020204030204" charset="0"/>
                          <a:ea typeface="Arial" panose="020B0604020202020204" pitchFamily="34" charset="0"/>
                        </a:rPr>
                        <a:t>阶段目标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600" spc="120">
                          <a:latin typeface="Calibri" panose="020F0502020204030204" charset="0"/>
                          <a:ea typeface="Arial" panose="020B0604020202020204" pitchFamily="34" charset="0"/>
                        </a:rPr>
                        <a:t>状态</a:t>
                      </a:r>
                    </a:p>
                  </a:txBody>
                  <a:tcPr marL="254000" marR="254000" marT="177800" marB="1778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415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400">
                          <a:latin typeface="Calibri" panose="020F0502020204030204" charset="0"/>
                          <a:ea typeface="Arial" panose="020B0604020202020204" pitchFamily="34" charset="0"/>
                        </a:rPr>
                        <a:t>Phase 0 </a:t>
                      </a:r>
                      <a:r>
                        <a:rPr lang="zh-CN" altLang="en-US" sz="1400">
                          <a:latin typeface="Calibri" panose="020F0502020204030204" charset="0"/>
                          <a:ea typeface="Arial" panose="020B0604020202020204" pitchFamily="34" charset="0"/>
                        </a:rPr>
                        <a:t>骨架与最小可观测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400">
                          <a:latin typeface="Calibri" panose="020F0502020204030204" charset="0"/>
                          <a:ea typeface="Arial" panose="020B0604020202020204" pitchFamily="34" charset="0"/>
                        </a:rPr>
                        <a:t>2026-05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20000"/>
                        </a:lnSpc>
                      </a:pPr>
                      <a:r>
                        <a:rPr lang="zh-CN" altLang="en-US" sz="1400">
                          <a:latin typeface="Calibri" panose="020F0502020204030204" charset="0"/>
                          <a:ea typeface="Arial" panose="020B0604020202020204" pitchFamily="34" charset="0"/>
                        </a:rPr>
                        <a:t>跑通最小闭环：加载、收事件、输出规范化告警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400">
                          <a:latin typeface="Calibri" panose="020F0502020204030204" charset="0"/>
                          <a:ea typeface="Arial" panose="020B0604020202020204" pitchFamily="34" charset="0"/>
                        </a:rPr>
                        <a:t>✅ </a:t>
                      </a:r>
                      <a:r>
                        <a:rPr lang="zh-CN" altLang="en-US" sz="1400">
                          <a:latin typeface="Calibri" panose="020F0502020204030204" charset="0"/>
                          <a:ea typeface="Arial" panose="020B0604020202020204" pitchFamily="34" charset="0"/>
                        </a:rPr>
                        <a:t>完成</a:t>
                      </a:r>
                    </a:p>
                  </a:txBody>
                  <a:tcPr marL="254000" marR="254000" marT="177800" marB="1778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405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400">
                          <a:latin typeface="Calibri" panose="020F0502020204030204" charset="0"/>
                          <a:ea typeface="Arial" panose="020B0604020202020204" pitchFamily="34" charset="0"/>
                        </a:rPr>
                        <a:t>Phase 1 </a:t>
                      </a:r>
                      <a:r>
                        <a:rPr lang="zh-CN" altLang="en-US" sz="1400">
                          <a:latin typeface="Calibri" panose="020F0502020204030204" charset="0"/>
                          <a:ea typeface="Arial" panose="020B0604020202020204" pitchFamily="34" charset="0"/>
                        </a:rPr>
                        <a:t>基础异常闭环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400">
                          <a:latin typeface="Calibri" panose="020F0502020204030204" charset="0"/>
                          <a:ea typeface="Arial" panose="020B0604020202020204" pitchFamily="34" charset="0"/>
                        </a:rPr>
                        <a:t>2026-05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20000"/>
                        </a:lnSpc>
                      </a:pPr>
                      <a:r>
                        <a:rPr lang="en-US" altLang="zh-CN" sz="1400">
                          <a:latin typeface="Calibri" panose="020F0502020204030204" charset="0"/>
                          <a:ea typeface="Arial" panose="020B0604020202020204" pitchFamily="34" charset="0"/>
                        </a:rPr>
                        <a:t>eBPF + </a:t>
                      </a:r>
                      <a:r>
                        <a:rPr lang="zh-CN" altLang="en-US" sz="1400">
                          <a:latin typeface="Calibri" panose="020F0502020204030204" charset="0"/>
                          <a:ea typeface="Arial" panose="020B0604020202020204" pitchFamily="34" charset="0"/>
                        </a:rPr>
                        <a:t>用户态分析 </a:t>
                      </a:r>
                      <a:r>
                        <a:rPr lang="en-US" altLang="zh-CN" sz="1400">
                          <a:latin typeface="Calibri" panose="020F0502020204030204" charset="0"/>
                          <a:ea typeface="Arial" panose="020B0604020202020204" pitchFamily="34" charset="0"/>
                        </a:rPr>
                        <a:t>+ </a:t>
                      </a:r>
                      <a:r>
                        <a:rPr lang="zh-CN" altLang="en-US" sz="1400">
                          <a:latin typeface="Calibri" panose="020F0502020204030204" charset="0"/>
                          <a:ea typeface="Arial" panose="020B0604020202020204" pitchFamily="34" charset="0"/>
                        </a:rPr>
                        <a:t>统一告警；</a:t>
                      </a:r>
                      <a:r>
                        <a:rPr lang="en-US" altLang="zh-CN" sz="1400">
                          <a:latin typeface="Calibri" panose="020F0502020204030204" charset="0"/>
                          <a:ea typeface="Arial" panose="020B0604020202020204" pitchFamily="34" charset="0"/>
                        </a:rPr>
                        <a:t>3 </a:t>
                      </a:r>
                      <a:r>
                        <a:rPr lang="zh-CN" altLang="en-US" sz="1400">
                          <a:latin typeface="Calibri" panose="020F0502020204030204" charset="0"/>
                          <a:ea typeface="Arial" panose="020B0604020202020204" pitchFamily="34" charset="0"/>
                        </a:rPr>
                        <a:t>类基础检测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400">
                          <a:latin typeface="Calibri" panose="020F0502020204030204" charset="0"/>
                          <a:ea typeface="Arial" panose="020B0604020202020204" pitchFamily="34" charset="0"/>
                        </a:rPr>
                        <a:t>✅ </a:t>
                      </a:r>
                      <a:r>
                        <a:rPr lang="zh-CN" altLang="en-US" sz="1400">
                          <a:latin typeface="Calibri" panose="020F0502020204030204" charset="0"/>
                          <a:ea typeface="Arial" panose="020B0604020202020204" pitchFamily="34" charset="0"/>
                        </a:rPr>
                        <a:t>完成</a:t>
                      </a:r>
                    </a:p>
                  </a:txBody>
                  <a:tcPr marL="254000" marR="254000" marT="177800" marB="1778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415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400">
                          <a:latin typeface="Calibri" panose="020F0502020204030204" charset="0"/>
                          <a:ea typeface="Arial" panose="020B0604020202020204" pitchFamily="34" charset="0"/>
                        </a:rPr>
                        <a:t>Phase 2 </a:t>
                      </a:r>
                      <a:r>
                        <a:rPr lang="zh-CN" altLang="en-US" sz="1400">
                          <a:latin typeface="Calibri" panose="020F0502020204030204" charset="0"/>
                          <a:ea typeface="Arial" panose="020B0604020202020204" pitchFamily="34" charset="0"/>
                        </a:rPr>
                        <a:t>多智能体语义与资源滥用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400">
                          <a:latin typeface="Calibri" panose="020F0502020204030204" charset="0"/>
                          <a:ea typeface="Arial" panose="020B0604020202020204" pitchFamily="34" charset="0"/>
                        </a:rPr>
                        <a:t>2026-05 ~ 06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20000"/>
                        </a:lnSpc>
                      </a:pPr>
                      <a:r>
                        <a:rPr lang="zh-CN" altLang="en-US" sz="1400">
                          <a:latin typeface="Calibri" panose="020F0502020204030204" charset="0"/>
                          <a:ea typeface="Arial" panose="020B0604020202020204" pitchFamily="34" charset="0"/>
                        </a:rPr>
                        <a:t>会话</a:t>
                      </a:r>
                      <a:r>
                        <a:rPr lang="en-US" altLang="zh-CN" sz="1400">
                          <a:latin typeface="Calibri" panose="020F0502020204030204" charset="0"/>
                          <a:ea typeface="Arial" panose="020B0604020202020204" pitchFamily="34" charset="0"/>
                        </a:rPr>
                        <a:t>/</a:t>
                      </a:r>
                      <a:r>
                        <a:rPr lang="zh-CN" altLang="en-US" sz="1400">
                          <a:latin typeface="Calibri" panose="020F0502020204030204" charset="0"/>
                          <a:ea typeface="Arial" panose="020B0604020202020204" pitchFamily="34" charset="0"/>
                        </a:rPr>
                        <a:t>角色识别、并发隔离、死循环检测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400">
                          <a:latin typeface="Calibri" panose="020F0502020204030204" charset="0"/>
                          <a:ea typeface="Arial" panose="020B0604020202020204" pitchFamily="34" charset="0"/>
                        </a:rPr>
                        <a:t>✅ </a:t>
                      </a:r>
                      <a:r>
                        <a:rPr lang="zh-CN" altLang="en-US" sz="1400">
                          <a:latin typeface="Calibri" panose="020F0502020204030204" charset="0"/>
                          <a:ea typeface="Arial" panose="020B0604020202020204" pitchFamily="34" charset="0"/>
                        </a:rPr>
                        <a:t>完成</a:t>
                      </a:r>
                    </a:p>
                  </a:txBody>
                  <a:tcPr marL="254000" marR="254000" marT="177800" marB="1778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405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400">
                          <a:latin typeface="Calibri" panose="020F0502020204030204" charset="0"/>
                          <a:ea typeface="Arial" panose="020B0604020202020204" pitchFamily="34" charset="0"/>
                        </a:rPr>
                        <a:t>Phase 3 TLS </a:t>
                      </a:r>
                      <a:r>
                        <a:rPr lang="zh-CN" altLang="en-US" sz="1400">
                          <a:latin typeface="Calibri" panose="020F0502020204030204" charset="0"/>
                          <a:ea typeface="Arial" panose="020B0604020202020204" pitchFamily="34" charset="0"/>
                        </a:rPr>
                        <a:t>提示词捕获与同会话关联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400">
                          <a:latin typeface="Calibri" panose="020F0502020204030204" charset="0"/>
                          <a:ea typeface="Arial" panose="020B0604020202020204" pitchFamily="34" charset="0"/>
                        </a:rPr>
                        <a:t>2026-06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20000"/>
                        </a:lnSpc>
                      </a:pPr>
                      <a:r>
                        <a:rPr lang="en-US" altLang="zh-CN" sz="1400">
                          <a:latin typeface="Calibri" panose="020F0502020204030204" charset="0"/>
                          <a:ea typeface="Arial" panose="020B0604020202020204" pitchFamily="34" charset="0"/>
                        </a:rPr>
                        <a:t>OpenSSL uprobe </a:t>
                      </a:r>
                      <a:r>
                        <a:rPr lang="zh-CN" altLang="en-US" sz="1400">
                          <a:latin typeface="Calibri" panose="020F0502020204030204" charset="0"/>
                          <a:ea typeface="Arial" panose="020B0604020202020204" pitchFamily="34" charset="0"/>
                        </a:rPr>
                        <a:t>截获明文、同会话 </a:t>
                      </a:r>
                      <a:r>
                        <a:rPr lang="en-US" altLang="zh-CN" sz="1400">
                          <a:latin typeface="Calibri" panose="020F0502020204030204" charset="0"/>
                          <a:ea typeface="Arial" panose="020B0604020202020204" pitchFamily="34" charset="0"/>
                        </a:rPr>
                        <a:t>prompt→</a:t>
                      </a:r>
                      <a:r>
                        <a:rPr lang="zh-CN" altLang="en-US" sz="1400">
                          <a:latin typeface="Calibri" panose="020F0502020204030204" charset="0"/>
                          <a:ea typeface="Arial" panose="020B0604020202020204" pitchFamily="34" charset="0"/>
                        </a:rPr>
                        <a:t>高危关联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400">
                          <a:latin typeface="Calibri" panose="020F0502020204030204" charset="0"/>
                          <a:ea typeface="Arial" panose="020B0604020202020204" pitchFamily="34" charset="0"/>
                        </a:rPr>
                        <a:t>✅ </a:t>
                      </a:r>
                      <a:r>
                        <a:rPr lang="zh-CN" altLang="en-US" sz="1400">
                          <a:latin typeface="Calibri" panose="020F0502020204030204" charset="0"/>
                          <a:ea typeface="Arial" panose="020B0604020202020204" pitchFamily="34" charset="0"/>
                        </a:rPr>
                        <a:t>完成</a:t>
                      </a:r>
                    </a:p>
                  </a:txBody>
                  <a:tcPr marL="254000" marR="254000" marT="177800" marB="1778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3415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400">
                          <a:latin typeface="Calibri" panose="020F0502020204030204" charset="0"/>
                          <a:ea typeface="Arial" panose="020B0604020202020204" pitchFamily="34" charset="0"/>
                        </a:rPr>
                        <a:t>Phase 4 </a:t>
                      </a:r>
                      <a:r>
                        <a:rPr lang="zh-CN" altLang="en-US" sz="1400">
                          <a:latin typeface="Calibri" panose="020F0502020204030204" charset="0"/>
                          <a:ea typeface="Arial" panose="020B0604020202020204" pitchFamily="34" charset="0"/>
                        </a:rPr>
                        <a:t>文件工件与跨会话 </a:t>
                      </a:r>
                      <a:r>
                        <a:rPr lang="en-US" altLang="zh-CN" sz="1400">
                          <a:latin typeface="Calibri" panose="020F0502020204030204" charset="0"/>
                          <a:ea typeface="Arial" panose="020B0604020202020204" pitchFamily="34" charset="0"/>
                        </a:rPr>
                        <a:t>CAPI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400">
                          <a:latin typeface="Calibri" panose="020F0502020204030204" charset="0"/>
                          <a:ea typeface="Arial" panose="020B0604020202020204" pitchFamily="34" charset="0"/>
                        </a:rPr>
                        <a:t>2026-06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20000"/>
                        </a:lnSpc>
                      </a:pPr>
                      <a:r>
                        <a:rPr lang="zh-CN" altLang="en-US" sz="1400">
                          <a:latin typeface="Calibri" panose="020F0502020204030204" charset="0"/>
                          <a:ea typeface="Arial" panose="020B0604020202020204" pitchFamily="34" charset="0"/>
                        </a:rPr>
                        <a:t>跨会话因果链：工件</a:t>
                      </a:r>
                      <a:r>
                        <a:rPr lang="en-US" altLang="zh-CN" sz="1400">
                          <a:latin typeface="Calibri" panose="020F0502020204030204" charset="0"/>
                          <a:ea typeface="Arial" panose="020B0604020202020204" pitchFamily="34" charset="0"/>
                        </a:rPr>
                        <a:t>→</a:t>
                      </a:r>
                      <a:r>
                        <a:rPr lang="zh-CN" altLang="en-US" sz="1400">
                          <a:latin typeface="Calibri" panose="020F0502020204030204" charset="0"/>
                          <a:ea typeface="Arial" panose="020B0604020202020204" pitchFamily="34" charset="0"/>
                        </a:rPr>
                        <a:t>下游 </a:t>
                      </a:r>
                      <a:r>
                        <a:rPr lang="en-US" altLang="zh-CN" sz="1400">
                          <a:latin typeface="Calibri" panose="020F0502020204030204" charset="0"/>
                          <a:ea typeface="Arial" panose="020B0604020202020204" pitchFamily="34" charset="0"/>
                        </a:rPr>
                        <a:t>prompt→</a:t>
                      </a:r>
                      <a:r>
                        <a:rPr lang="zh-CN" altLang="en-US" sz="1400">
                          <a:latin typeface="Calibri" panose="020F0502020204030204" charset="0"/>
                          <a:ea typeface="Arial" panose="020B0604020202020204" pitchFamily="34" charset="0"/>
                        </a:rPr>
                        <a:t>高危 </a:t>
                      </a:r>
                      <a:r>
                        <a:rPr lang="en-US" altLang="zh-CN" sz="1400">
                          <a:latin typeface="Calibri" panose="020F0502020204030204" charset="0"/>
                          <a:ea typeface="Arial" panose="020B0604020202020204" pitchFamily="34" charset="0"/>
                        </a:rPr>
                        <a:t>syscall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400">
                          <a:latin typeface="Calibri" panose="020F0502020204030204" charset="0"/>
                          <a:ea typeface="Arial" panose="020B0604020202020204" pitchFamily="34" charset="0"/>
                        </a:rPr>
                        <a:t>✅ </a:t>
                      </a:r>
                      <a:r>
                        <a:rPr lang="zh-CN" altLang="en-US" sz="1400">
                          <a:latin typeface="Calibri" panose="020F0502020204030204" charset="0"/>
                          <a:ea typeface="Arial" panose="020B0604020202020204" pitchFamily="34" charset="0"/>
                        </a:rPr>
                        <a:t>完成</a:t>
                      </a:r>
                    </a:p>
                  </a:txBody>
                  <a:tcPr marL="254000" marR="254000" marT="177800" marB="1778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405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400">
                          <a:latin typeface="Calibri" panose="020F0502020204030204" charset="0"/>
                          <a:ea typeface="Arial" panose="020B0604020202020204" pitchFamily="34" charset="0"/>
                        </a:rPr>
                        <a:t>Phase 5 </a:t>
                      </a:r>
                      <a:r>
                        <a:rPr lang="zh-CN" altLang="en-US" sz="1400">
                          <a:latin typeface="Calibri" panose="020F0502020204030204" charset="0"/>
                          <a:ea typeface="Arial" panose="020B0604020202020204" pitchFamily="34" charset="0"/>
                        </a:rPr>
                        <a:t>硬化：性能</a:t>
                      </a:r>
                      <a:r>
                        <a:rPr lang="en-US" altLang="zh-CN" sz="1400">
                          <a:latin typeface="Calibri" panose="020F0502020204030204" charset="0"/>
                          <a:ea typeface="Arial" panose="020B0604020202020204" pitchFamily="34" charset="0"/>
                        </a:rPr>
                        <a:t>/</a:t>
                      </a:r>
                      <a:r>
                        <a:rPr lang="zh-CN" altLang="en-US" sz="1400">
                          <a:latin typeface="Calibri" panose="020F0502020204030204" charset="0"/>
                          <a:ea typeface="Arial" panose="020B0604020202020204" pitchFamily="34" charset="0"/>
                        </a:rPr>
                        <a:t>降级</a:t>
                      </a:r>
                      <a:r>
                        <a:rPr lang="en-US" altLang="zh-CN" sz="1400">
                          <a:latin typeface="Calibri" panose="020F0502020204030204" charset="0"/>
                          <a:ea typeface="Arial" panose="020B0604020202020204" pitchFamily="34" charset="0"/>
                        </a:rPr>
                        <a:t>/</a:t>
                      </a:r>
                      <a:r>
                        <a:rPr lang="zh-CN" altLang="en-US" sz="1400">
                          <a:latin typeface="Calibri" panose="020F0502020204030204" charset="0"/>
                          <a:ea typeface="Arial" panose="020B0604020202020204" pitchFamily="34" charset="0"/>
                        </a:rPr>
                        <a:t>可复现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400">
                          <a:latin typeface="Calibri" panose="020F0502020204030204" charset="0"/>
                          <a:ea typeface="Arial" panose="020B0604020202020204" pitchFamily="34" charset="0"/>
                        </a:rPr>
                        <a:t>2026-06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20000"/>
                        </a:lnSpc>
                      </a:pPr>
                      <a:r>
                        <a:rPr lang="zh-CN" altLang="en-US" sz="1400">
                          <a:latin typeface="Calibri" panose="020F0502020204030204" charset="0"/>
                          <a:ea typeface="Arial" panose="020B0604020202020204" pitchFamily="34" charset="0"/>
                        </a:rPr>
                        <a:t>性能基准、降级诚实策略、</a:t>
                      </a:r>
                      <a:r>
                        <a:rPr lang="en-US" altLang="zh-CN" sz="1400">
                          <a:latin typeface="Calibri" panose="020F0502020204030204" charset="0"/>
                          <a:ea typeface="Arial" panose="020B0604020202020204" pitchFamily="34" charset="0"/>
                        </a:rPr>
                        <a:t>IPC</a:t>
                      </a:r>
                      <a:r>
                        <a:rPr lang="zh-CN" altLang="en-US" sz="1400">
                          <a:latin typeface="Calibri" panose="020F0502020204030204" charset="0"/>
                          <a:ea typeface="Arial" panose="020B0604020202020204" pitchFamily="34" charset="0"/>
                        </a:rPr>
                        <a:t>、复现脚本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400">
                          <a:latin typeface="Calibri" panose="020F0502020204030204" charset="0"/>
                          <a:ea typeface="Arial" panose="020B0604020202020204" pitchFamily="34" charset="0"/>
                        </a:rPr>
                        <a:t>✅ </a:t>
                      </a:r>
                      <a:r>
                        <a:rPr lang="zh-CN" altLang="en-US" sz="1400">
                          <a:latin typeface="Calibri" panose="020F0502020204030204" charset="0"/>
                          <a:ea typeface="Arial" panose="020B0604020202020204" pitchFamily="34" charset="0"/>
                        </a:rPr>
                        <a:t>完成</a:t>
                      </a:r>
                    </a:p>
                  </a:txBody>
                  <a:tcPr marL="254000" marR="254000" marT="177800" marB="1778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03910" y="914400"/>
            <a:ext cx="21824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2.2 </a:t>
            </a:r>
            <a:r>
              <a:rPr lang="zh-CN" altLang="en-US" b="1"/>
              <a:t>计划完成情况</a:t>
            </a:r>
          </a:p>
        </p:txBody>
      </p:sp>
      <p:sp>
        <p:nvSpPr>
          <p:cNvPr id="4" name="椭圆 3"/>
          <p:cNvSpPr/>
          <p:nvPr/>
        </p:nvSpPr>
        <p:spPr>
          <a:xfrm>
            <a:off x="396875" y="990550"/>
            <a:ext cx="216000" cy="216000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五边形 69"/>
          <p:cNvSpPr/>
          <p:nvPr/>
        </p:nvSpPr>
        <p:spPr>
          <a:xfrm>
            <a:off x="309245" y="3306445"/>
            <a:ext cx="2411730" cy="629920"/>
          </a:xfrm>
          <a:prstGeom prst="homePlat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rgbClr val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solidFill>
                  <a:schemeClr val="lt1"/>
                </a:solidFill>
              </a:rPr>
              <a:t>Phase 0</a:t>
            </a:r>
          </a:p>
        </p:txBody>
      </p:sp>
      <p:sp>
        <p:nvSpPr>
          <p:cNvPr id="15" name="燕尾形 70"/>
          <p:cNvSpPr/>
          <p:nvPr/>
        </p:nvSpPr>
        <p:spPr>
          <a:xfrm>
            <a:off x="2578735" y="3306445"/>
            <a:ext cx="2411095" cy="629920"/>
          </a:xfrm>
          <a:prstGeom prst="chevron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rgbClr val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>
                <a:solidFill>
                  <a:schemeClr val="lt1"/>
                </a:solidFill>
              </a:rPr>
              <a:t>20XX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2956560" y="3459480"/>
            <a:ext cx="1746885" cy="33718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/>
              <a:t>Phase 2</a:t>
            </a:r>
          </a:p>
        </p:txBody>
      </p:sp>
      <p:sp>
        <p:nvSpPr>
          <p:cNvPr id="18" name="燕尾形 70"/>
          <p:cNvSpPr/>
          <p:nvPr/>
        </p:nvSpPr>
        <p:spPr>
          <a:xfrm>
            <a:off x="4885690" y="3313430"/>
            <a:ext cx="2411095" cy="629920"/>
          </a:xfrm>
          <a:prstGeom prst="chevron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rgbClr val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solidFill>
                  <a:schemeClr val="bg1"/>
                </a:solidFill>
              </a:rPr>
              <a:t>Phase 3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25" name="燕尾形 70"/>
          <p:cNvSpPr/>
          <p:nvPr/>
        </p:nvSpPr>
        <p:spPr>
          <a:xfrm>
            <a:off x="7193280" y="3313430"/>
            <a:ext cx="2411095" cy="629920"/>
          </a:xfrm>
          <a:prstGeom prst="chevron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rgbClr val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>
                <a:solidFill>
                  <a:schemeClr val="lt1"/>
                </a:solidFill>
              </a:rPr>
              <a:t>20XX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7525385" y="3466465"/>
            <a:ext cx="1746885" cy="33718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/>
              <a:t>Phase 4</a:t>
            </a:r>
          </a:p>
        </p:txBody>
      </p:sp>
      <p:sp>
        <p:nvSpPr>
          <p:cNvPr id="28" name="燕尾形 70"/>
          <p:cNvSpPr/>
          <p:nvPr/>
        </p:nvSpPr>
        <p:spPr>
          <a:xfrm>
            <a:off x="9472930" y="3300730"/>
            <a:ext cx="2411095" cy="629920"/>
          </a:xfrm>
          <a:prstGeom prst="chevron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rgbClr val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solidFill>
                  <a:schemeClr val="bg1"/>
                </a:solidFill>
              </a:rPr>
              <a:t>Phase 5</a:t>
            </a:r>
          </a:p>
        </p:txBody>
      </p:sp>
      <p:sp>
        <p:nvSpPr>
          <p:cNvPr id="273" name="Text Box 3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34440" y="4324985"/>
            <a:ext cx="555625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zh-CN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6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Impact" panose="020B0806030902050204" pitchFamily="34" charset="0"/>
                <a:ea typeface="微软雅黑" panose="020B0503020204020204" charset="-122"/>
              </a:rPr>
              <a:t>01</a:t>
            </a:r>
          </a:p>
        </p:txBody>
      </p:sp>
      <p:sp>
        <p:nvSpPr>
          <p:cNvPr id="35" name="Text Box 38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782945" y="4324350"/>
            <a:ext cx="61595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buClrTx/>
              <a:buSzTx/>
              <a:buFontTx/>
            </a:pPr>
            <a:r>
              <a:rPr lang="zh-CN" altLang="zh-CN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6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Impact" panose="020B0806030902050204" pitchFamily="34" charset="0"/>
                <a:ea typeface="微软雅黑" panose="020B0503020204020204" charset="-122"/>
                <a:sym typeface="+mn-ea"/>
              </a:rPr>
              <a:t>03</a:t>
            </a:r>
          </a:p>
        </p:txBody>
      </p:sp>
      <p:sp>
        <p:nvSpPr>
          <p:cNvPr id="36" name="Text Box 38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0368915" y="4324350"/>
            <a:ext cx="61849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buClrTx/>
              <a:buSzTx/>
              <a:buFontTx/>
            </a:pPr>
            <a:r>
              <a:rPr lang="zh-CN" altLang="zh-CN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6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Impact" panose="020B0806030902050204" pitchFamily="34" charset="0"/>
                <a:ea typeface="微软雅黑" panose="020B0503020204020204" charset="-122"/>
                <a:sym typeface="+mn-ea"/>
              </a:rPr>
              <a:t>05</a:t>
            </a:r>
          </a:p>
        </p:txBody>
      </p:sp>
      <p:sp>
        <p:nvSpPr>
          <p:cNvPr id="271" name="Rectangle 3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18135" y="1735455"/>
            <a:ext cx="2402840" cy="129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lvl="0" indent="0"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ea"/>
                <a:sym typeface="+mn-lt"/>
              </a:rPr>
              <a:t>√</a:t>
            </a:r>
            <a:r>
              <a:rPr lang="zh-CN" altLang="en-US" sz="1400" dirty="0">
                <a:cs typeface="+mn-ea"/>
                <a:sym typeface="+mn-lt"/>
              </a:rPr>
              <a:t>：</a:t>
            </a:r>
            <a:r>
              <a:rPr lang="en-US" altLang="zh-CN" sz="1400" dirty="0">
                <a:cs typeface="+mn-ea"/>
                <a:sym typeface="+mn-lt"/>
              </a:rPr>
              <a:t>daemon </a:t>
            </a:r>
            <a:r>
              <a:rPr lang="zh-CN" altLang="en-US" sz="1400" dirty="0">
                <a:cs typeface="+mn-ea"/>
                <a:sym typeface="+mn-lt"/>
              </a:rPr>
              <a:t>稳定启动、捕获</a:t>
            </a:r>
            <a:r>
              <a:rPr lang="en-US" altLang="zh-CN" sz="1400" dirty="0">
                <a:cs typeface="+mn-ea"/>
                <a:sym typeface="+mn-lt"/>
              </a:rPr>
              <a:t> exec</a:t>
            </a:r>
            <a:r>
              <a:rPr lang="zh-CN" altLang="en-US" sz="1400" dirty="0">
                <a:cs typeface="+mn-ea"/>
                <a:sym typeface="+mn-lt"/>
              </a:rPr>
              <a:t>、输出</a:t>
            </a:r>
            <a:r>
              <a:rPr lang="en-US" altLang="zh-CN" sz="1400" dirty="0">
                <a:cs typeface="+mn-ea"/>
                <a:sym typeface="+mn-lt"/>
              </a:rPr>
              <a:t> schema </a:t>
            </a:r>
            <a:r>
              <a:rPr lang="zh-CN" altLang="en-US" sz="1400" dirty="0">
                <a:cs typeface="+mn-ea"/>
                <a:sym typeface="+mn-lt"/>
              </a:rPr>
              <a:t>合法</a:t>
            </a:r>
            <a:r>
              <a:rPr lang="en-US" altLang="zh-CN" sz="1400" dirty="0">
                <a:cs typeface="+mn-ea"/>
                <a:sym typeface="+mn-lt"/>
              </a:rPr>
              <a:t> NDJSON | proto/alert </a:t>
            </a:r>
            <a:r>
              <a:rPr lang="zh-CN" altLang="en-US" sz="1400" dirty="0">
                <a:cs typeface="+mn-ea"/>
                <a:sym typeface="+mn-lt"/>
              </a:rPr>
              <a:t>单测、启动</a:t>
            </a:r>
            <a:r>
              <a:rPr lang="en-US" altLang="zh-CN" sz="1400" dirty="0">
                <a:cs typeface="+mn-ea"/>
                <a:sym typeface="+mn-lt"/>
              </a:rPr>
              <a:t> preflight </a:t>
            </a:r>
            <a:r>
              <a:rPr lang="zh-CN" altLang="en-US" sz="1400" dirty="0">
                <a:cs typeface="+mn-ea"/>
                <a:sym typeface="+mn-lt"/>
              </a:rPr>
              <a:t>检查</a:t>
            </a:r>
          </a:p>
        </p:txBody>
      </p:sp>
      <p:sp>
        <p:nvSpPr>
          <p:cNvPr id="38" name="Text Box 38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482340" y="2219325"/>
            <a:ext cx="60452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buClrTx/>
              <a:buSzTx/>
              <a:buFontTx/>
            </a:pPr>
            <a:r>
              <a:rPr lang="zh-CN" altLang="zh-CN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6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Impact" panose="020B0806030902050204" pitchFamily="34" charset="0"/>
                <a:ea typeface="微软雅黑" panose="020B0503020204020204" charset="-122"/>
                <a:sym typeface="+mn-ea"/>
              </a:rPr>
              <a:t>02</a:t>
            </a:r>
          </a:p>
        </p:txBody>
      </p:sp>
      <p:sp>
        <p:nvSpPr>
          <p:cNvPr id="40" name="Text Box 38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8096885" y="2219325"/>
            <a:ext cx="603885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buClrTx/>
              <a:buSzTx/>
              <a:buFontTx/>
            </a:pPr>
            <a:r>
              <a:rPr lang="zh-CN" altLang="zh-CN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6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Impact" panose="020B0806030902050204" pitchFamily="34" charset="0"/>
                <a:ea typeface="微软雅黑" panose="020B0503020204020204" charset="-122"/>
                <a:sym typeface="+mn-ea"/>
              </a:rPr>
              <a:t>04</a:t>
            </a:r>
          </a:p>
        </p:txBody>
      </p:sp>
      <p:sp>
        <p:nvSpPr>
          <p:cNvPr id="7" name="Rectangle 34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4885055" y="1735455"/>
            <a:ext cx="2415540" cy="969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lvl="0" indent="0"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ea"/>
                <a:sym typeface="+mn-lt"/>
              </a:rPr>
              <a:t>√</a:t>
            </a:r>
            <a:r>
              <a:rPr lang="zh-CN" altLang="en-US" sz="1400" dirty="0">
                <a:cs typeface="+mn-ea"/>
                <a:sym typeface="+mn-lt"/>
              </a:rPr>
              <a:t>：多会话识别、并发会话不串、死循环检测</a:t>
            </a:r>
            <a:r>
              <a:rPr lang="en-US" altLang="zh-CN" sz="1400" dirty="0">
                <a:cs typeface="+mn-ea"/>
                <a:sym typeface="+mn-lt"/>
              </a:rPr>
              <a:t>	live deadloop_waste </a:t>
            </a:r>
            <a:r>
              <a:rPr lang="zh-CN" altLang="en-US" sz="1400" dirty="0">
                <a:cs typeface="+mn-ea"/>
                <a:sym typeface="+mn-lt"/>
              </a:rPr>
              <a:t>通过；</a:t>
            </a:r>
            <a:r>
              <a:rPr lang="en-US" altLang="zh-CN" sz="1400" dirty="0">
                <a:cs typeface="+mn-ea"/>
                <a:sym typeface="+mn-lt"/>
              </a:rPr>
              <a:t>replay fixtures 10/10</a:t>
            </a:r>
          </a:p>
        </p:txBody>
      </p:sp>
      <p:sp>
        <p:nvSpPr>
          <p:cNvPr id="8" name="Rectangle 34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9474835" y="1735455"/>
            <a:ext cx="2393315" cy="969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lvl="0" indent="0"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ea"/>
                <a:sym typeface="+mn-lt"/>
              </a:rPr>
              <a:t>√</a:t>
            </a:r>
            <a:r>
              <a:rPr lang="zh-CN" altLang="en-US" sz="1400" dirty="0">
                <a:cs typeface="+mn-ea"/>
                <a:sym typeface="+mn-lt"/>
              </a:rPr>
              <a:t>：性能达标、降级诚实、可复现</a:t>
            </a:r>
            <a:r>
              <a:rPr lang="en-US" altLang="zh-CN" sz="1400" dirty="0">
                <a:cs typeface="+mn-ea"/>
                <a:sym typeface="+mn-lt"/>
              </a:rPr>
              <a:t>live degradation_honesty </a:t>
            </a:r>
            <a:r>
              <a:rPr lang="zh-CN" altLang="en-US" sz="1400" dirty="0">
                <a:cs typeface="+mn-ea"/>
                <a:sym typeface="+mn-lt"/>
              </a:rPr>
              <a:t>通过，完成性能测试（后页）</a:t>
            </a:r>
          </a:p>
        </p:txBody>
      </p:sp>
      <p:sp>
        <p:nvSpPr>
          <p:cNvPr id="10" name="Rectangle 34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2362835" y="4073525"/>
            <a:ext cx="2748280" cy="2147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noAutofit/>
          </a:bodyPr>
          <a:lstStyle/>
          <a:p>
            <a:pPr lvl="0" indent="0"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ea"/>
                <a:sym typeface="+mn-lt"/>
              </a:rPr>
              <a:t>√</a:t>
            </a:r>
            <a:r>
              <a:rPr lang="zh-CN" altLang="en-US" sz="1400" dirty="0">
                <a:cs typeface="+mn-ea"/>
                <a:sym typeface="+mn-lt"/>
              </a:rPr>
              <a:t>：非预期</a:t>
            </a:r>
            <a:r>
              <a:rPr lang="en-US" altLang="zh-CN" sz="1400" dirty="0">
                <a:cs typeface="+mn-ea"/>
                <a:sym typeface="+mn-lt"/>
              </a:rPr>
              <a:t> Shell / </a:t>
            </a:r>
            <a:r>
              <a:rPr lang="zh-CN" altLang="en-US" sz="1400" dirty="0">
                <a:cs typeface="+mn-ea"/>
                <a:sym typeface="+mn-lt"/>
              </a:rPr>
              <a:t>敏感文件越权</a:t>
            </a:r>
            <a:r>
              <a:rPr lang="en-US" altLang="zh-CN" sz="1400" dirty="0">
                <a:cs typeface="+mn-ea"/>
                <a:sym typeface="+mn-lt"/>
              </a:rPr>
              <a:t> / </a:t>
            </a:r>
            <a:r>
              <a:rPr lang="zh-CN" altLang="en-US" sz="1400" dirty="0">
                <a:cs typeface="+mn-ea"/>
                <a:sym typeface="+mn-lt"/>
              </a:rPr>
              <a:t>越界删除三类检测可</a:t>
            </a:r>
            <a:r>
              <a:rPr lang="en-US" altLang="zh-CN" sz="1400" dirty="0">
                <a:cs typeface="+mn-ea"/>
                <a:sym typeface="+mn-lt"/>
              </a:rPr>
              <a:t>live </a:t>
            </a:r>
            <a:r>
              <a:rPr lang="zh-CN" altLang="en-US" sz="1400" dirty="0">
                <a:cs typeface="+mn-ea"/>
                <a:sym typeface="+mn-lt"/>
              </a:rPr>
              <a:t>场景：</a:t>
            </a:r>
            <a:r>
              <a:rPr lang="en-US" altLang="zh-CN" sz="1400" dirty="0">
                <a:cs typeface="+mn-ea"/>
                <a:sym typeface="+mn-lt"/>
              </a:rPr>
              <a:t>unexpected_shell_basic</a:t>
            </a:r>
            <a:r>
              <a:rPr lang="zh-CN" altLang="en-US" sz="1400" dirty="0">
                <a:cs typeface="+mn-ea"/>
                <a:sym typeface="+mn-lt"/>
              </a:rPr>
              <a:t>、</a:t>
            </a:r>
            <a:r>
              <a:rPr lang="en-US" altLang="zh-CN" sz="1400" dirty="0">
                <a:cs typeface="+mn-ea"/>
                <a:sym typeface="+mn-lt"/>
              </a:rPr>
              <a:t>sensitive_file_access_shadow</a:t>
            </a:r>
            <a:r>
              <a:rPr lang="zh-CN" altLang="en-US" sz="1400" dirty="0">
                <a:cs typeface="+mn-ea"/>
                <a:sym typeface="+mn-lt"/>
              </a:rPr>
              <a:t>、</a:t>
            </a:r>
            <a:r>
              <a:rPr lang="en-US" altLang="zh-CN" sz="1400" dirty="0">
                <a:cs typeface="+mn-ea"/>
                <a:sym typeface="+mn-lt"/>
              </a:rPr>
              <a:t>out_of_workspace_deletion</a:t>
            </a:r>
            <a:r>
              <a:rPr lang="zh-CN" altLang="en-US" sz="1400" dirty="0">
                <a:cs typeface="+mn-ea"/>
                <a:sym typeface="+mn-lt"/>
              </a:rPr>
              <a:t>、负例</a:t>
            </a:r>
            <a:r>
              <a:rPr lang="en-US" altLang="zh-CN" sz="1400" dirty="0">
                <a:cs typeface="+mn-ea"/>
                <a:sym typeface="+mn-lt"/>
              </a:rPr>
              <a:t> benign_shell </a:t>
            </a:r>
            <a:r>
              <a:rPr lang="zh-CN" altLang="en-US" sz="1400" dirty="0">
                <a:cs typeface="+mn-ea"/>
                <a:sym typeface="+mn-lt"/>
              </a:rPr>
              <a:t>通过</a:t>
            </a:r>
          </a:p>
        </p:txBody>
      </p:sp>
      <p:sp>
        <p:nvSpPr>
          <p:cNvPr id="11" name="Rectangle 34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960870" y="4229100"/>
            <a:ext cx="2875915" cy="129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lvl="0" indent="0"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ea"/>
                <a:sym typeface="+mn-lt"/>
              </a:rPr>
              <a:t>√</a:t>
            </a:r>
            <a:r>
              <a:rPr lang="zh-CN" altLang="en-US" sz="1400" dirty="0">
                <a:cs typeface="+mn-ea"/>
                <a:sym typeface="+mn-lt"/>
              </a:rPr>
              <a:t>：跨会话因果链端到端，解释清晰</a:t>
            </a:r>
            <a:r>
              <a:rPr lang="en-US" altLang="zh-CN" sz="1400" dirty="0">
                <a:cs typeface="+mn-ea"/>
                <a:sym typeface="+mn-lt"/>
              </a:rPr>
              <a:t>live cross_agent_prompt_injection_tls </a:t>
            </a:r>
            <a:r>
              <a:rPr lang="zh-CN" altLang="en-US" sz="1400" dirty="0">
                <a:cs typeface="+mn-ea"/>
                <a:sym typeface="+mn-lt"/>
              </a:rPr>
              <a:t>与并发流场景通过；告警含非空</a:t>
            </a:r>
            <a:r>
              <a:rPr lang="en-US" altLang="zh-CN" sz="1400" dirty="0">
                <a:cs typeface="+mn-ea"/>
                <a:sym typeface="+mn-lt"/>
              </a:rPr>
              <a:t> chain_id </a:t>
            </a:r>
            <a:r>
              <a:rPr lang="zh-CN" altLang="en-US" sz="1400" dirty="0">
                <a:cs typeface="+mn-ea"/>
                <a:sym typeface="+mn-lt"/>
              </a:rPr>
              <a:t>与因果</a:t>
            </a:r>
            <a:r>
              <a:rPr lang="en-US" altLang="zh-CN" sz="1400" dirty="0">
                <a:cs typeface="+mn-ea"/>
                <a:sym typeface="+mn-lt"/>
              </a:rPr>
              <a:t> explanation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03910" y="914400"/>
            <a:ext cx="21824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2.3 </a:t>
            </a:r>
            <a:r>
              <a:rPr lang="zh-CN" altLang="en-US" b="1"/>
              <a:t>测试情况</a:t>
            </a:r>
          </a:p>
        </p:txBody>
      </p:sp>
      <p:sp>
        <p:nvSpPr>
          <p:cNvPr id="4" name="椭圆 3"/>
          <p:cNvSpPr/>
          <p:nvPr/>
        </p:nvSpPr>
        <p:spPr>
          <a:xfrm>
            <a:off x="396875" y="990550"/>
            <a:ext cx="216000" cy="216000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4670" y="1598295"/>
            <a:ext cx="4751705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整体测试情况：</a:t>
            </a:r>
          </a:p>
          <a:p>
            <a:endParaRPr lang="zh-CN" altLang="en-US"/>
          </a:p>
          <a:p>
            <a:pPr marL="342900" indent="-342900">
              <a:buAutoNum type="arabicPeriod"/>
            </a:pPr>
            <a:r>
              <a:rPr lang="en-US" altLang="zh-CN"/>
              <a:t>cargo test --workspace</a:t>
            </a:r>
            <a:r>
              <a:rPr lang="zh-CN" altLang="en-US"/>
              <a:t>：约</a:t>
            </a:r>
            <a:r>
              <a:rPr lang="en-US" altLang="zh-CN"/>
              <a:t> </a:t>
            </a:r>
            <a:r>
              <a:rPr lang="en-US" altLang="zh-CN" b="1">
                <a:solidFill>
                  <a:schemeClr val="accent1"/>
                </a:solidFill>
              </a:rPr>
              <a:t>190 </a:t>
            </a:r>
            <a:r>
              <a:rPr lang="zh-CN" altLang="en-US" b="1">
                <a:solidFill>
                  <a:schemeClr val="accent1"/>
                </a:solidFill>
              </a:rPr>
              <a:t>个单元测试全部通过</a:t>
            </a:r>
          </a:p>
          <a:p>
            <a:pPr marL="342900" indent="-342900">
              <a:buAutoNum type="arabicPeriod"/>
            </a:pPr>
            <a:r>
              <a:rPr lang="zh-CN" altLang="en-US"/>
              <a:t>离线功能回放（</a:t>
            </a:r>
            <a:r>
              <a:rPr lang="en-US" altLang="zh-CN"/>
              <a:t>replay</a:t>
            </a:r>
            <a:r>
              <a:rPr lang="zh-CN" altLang="en-US"/>
              <a:t>）：</a:t>
            </a:r>
            <a:r>
              <a:rPr lang="en-US" altLang="zh-CN"/>
              <a:t>10 / 10 </a:t>
            </a:r>
            <a:r>
              <a:rPr lang="zh-CN" altLang="en-US"/>
              <a:t>通过</a:t>
            </a:r>
          </a:p>
          <a:p>
            <a:pPr marL="342900" indent="-342900">
              <a:buAutoNum type="arabicPeriod"/>
            </a:pPr>
            <a:r>
              <a:rPr lang="en-US" altLang="zh-CN"/>
              <a:t>Live eBPF </a:t>
            </a:r>
            <a:r>
              <a:rPr lang="zh-CN" altLang="en-US"/>
              <a:t>场景：</a:t>
            </a:r>
            <a:r>
              <a:rPr lang="en-US" altLang="zh-CN">
                <a:solidFill>
                  <a:schemeClr val="accent1"/>
                </a:solidFill>
              </a:rPr>
              <a:t>9 / 9 </a:t>
            </a:r>
            <a:r>
              <a:rPr lang="zh-CN" altLang="en-US">
                <a:solidFill>
                  <a:schemeClr val="accent1"/>
                </a:solidFill>
              </a:rPr>
              <a:t>通过</a:t>
            </a:r>
          </a:p>
          <a:p>
            <a:pPr marL="342900" indent="-342900">
              <a:buAutoNum type="arabicPeriod"/>
            </a:pPr>
            <a:r>
              <a:rPr lang="zh-CN" altLang="en-US"/>
              <a:t>性能基准（真实负载）：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/>
              <a:t>核心</a:t>
            </a:r>
            <a:r>
              <a:rPr lang="en-US" altLang="zh-CN"/>
              <a:t> syscall+TLS </a:t>
            </a:r>
            <a:r>
              <a:rPr lang="zh-CN" altLang="en-US"/>
              <a:t>捕获开销</a:t>
            </a:r>
            <a:r>
              <a:rPr lang="en-US" altLang="zh-CN"/>
              <a:t> ~2%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/>
              <a:t>严格门控</a:t>
            </a:r>
            <a:r>
              <a:rPr lang="en-US" altLang="zh-CN"/>
              <a:t> ≤ 5%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/>
              <a:t>全开内容捕获</a:t>
            </a:r>
            <a:r>
              <a:rPr lang="en-US" altLang="zh-CN"/>
              <a:t> ~4%</a:t>
            </a:r>
          </a:p>
          <a:p>
            <a:pPr marL="342900" indent="-342900">
              <a:buAutoNum type="arabicPeriod"/>
            </a:pP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35305" y="4917440"/>
            <a:ext cx="1053084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/>
              <a:t>性能测试：</a:t>
            </a:r>
            <a:br>
              <a:rPr lang="en-US" altLang="zh-CN" sz="1600"/>
            </a:br>
            <a:r>
              <a:rPr lang="en-US" altLang="zh-CN" sz="1600"/>
              <a:t>· daemon </a:t>
            </a:r>
            <a:r>
              <a:rPr lang="zh-CN" altLang="en-US" sz="1600"/>
              <a:t>常驻内存约</a:t>
            </a:r>
            <a:r>
              <a:rPr lang="en-US" altLang="zh-CN" sz="1600"/>
              <a:t> 180–210 MiB</a:t>
            </a:r>
            <a:r>
              <a:rPr lang="zh-CN" altLang="en-US" sz="1600"/>
              <a:t>（</a:t>
            </a:r>
            <a:r>
              <a:rPr lang="en-US" altLang="zh-CN" sz="1600"/>
              <a:t>&lt; 200 MiB </a:t>
            </a:r>
            <a:r>
              <a:rPr lang="zh-CN" altLang="en-US" sz="1600"/>
              <a:t>目标量级），开销随挂载层数单调递增，物理自洽</a:t>
            </a:r>
          </a:p>
          <a:p>
            <a:endParaRPr lang="en-US" altLang="zh-CN" sz="1600"/>
          </a:p>
          <a:p>
            <a:r>
              <a:rPr lang="en-US" altLang="zh-CN" sz="1600"/>
              <a:t>· </a:t>
            </a:r>
            <a:r>
              <a:rPr lang="zh-CN" altLang="en-US" sz="1600"/>
              <a:t>单次负载噪声约</a:t>
            </a:r>
            <a:r>
              <a:rPr lang="en-US" altLang="zh-CN" sz="1600"/>
              <a:t> </a:t>
            </a:r>
            <a:r>
              <a:rPr lang="en-US" altLang="en-US" sz="1600"/>
              <a:t>±</a:t>
            </a:r>
            <a:r>
              <a:rPr lang="en-US" altLang="zh-CN" sz="1600"/>
              <a:t>6%</a:t>
            </a:r>
            <a:r>
              <a:rPr lang="zh-CN" altLang="en-US" sz="1600"/>
              <a:t>，与捕获信号同量级；重复运行浮动：</a:t>
            </a:r>
            <a:r>
              <a:rPr lang="en-US" altLang="zh-CN" sz="1600"/>
              <a:t>kernel-only/kernel+tls ~0–2.3%</a:t>
            </a:r>
            <a:r>
              <a:rPr lang="zh-CN" altLang="en-US" sz="1600"/>
              <a:t>，</a:t>
            </a:r>
            <a:r>
              <a:rPr lang="en-US" altLang="zh-CN" sz="1600"/>
              <a:t>full ~4–6.5%</a:t>
            </a:r>
          </a:p>
          <a:p>
            <a:r>
              <a:rPr lang="en-US" altLang="zh-CN" sz="1600"/>
              <a:t>  </a:t>
            </a:r>
            <a:r>
              <a:rPr lang="zh-CN" altLang="en-US" sz="1600"/>
              <a:t>稳健结论：</a:t>
            </a:r>
            <a:r>
              <a:rPr lang="en-US" altLang="zh-CN" sz="1600"/>
              <a:t>syscall+TLS </a:t>
            </a:r>
            <a:r>
              <a:rPr lang="zh-CN" altLang="en-US" sz="1600"/>
              <a:t>捕获</a:t>
            </a:r>
            <a:r>
              <a:rPr lang="en-US" altLang="zh-CN" sz="1600"/>
              <a:t> ≤5%</a:t>
            </a:r>
            <a:r>
              <a:rPr lang="zh-CN" altLang="en-US" sz="1600"/>
              <a:t>，内容捕获真实且受吞吐量约束</a:t>
            </a:r>
          </a:p>
          <a:p>
            <a:r>
              <a:rPr lang="en-US" altLang="zh-CN" sz="1600"/>
              <a:t>  </a:t>
            </a:r>
            <a:r>
              <a:rPr lang="zh-CN" altLang="en-US" sz="1600"/>
              <a:t>持续大流量下内容捕获可能逼近</a:t>
            </a:r>
            <a:r>
              <a:rPr lang="en-US" altLang="zh-CN" sz="1600"/>
              <a:t>/</a:t>
            </a:r>
            <a:r>
              <a:rPr lang="zh-CN" altLang="en-US" sz="1600"/>
              <a:t>超过</a:t>
            </a:r>
            <a:r>
              <a:rPr lang="en-US" altLang="zh-CN" sz="1600"/>
              <a:t> 5%</a:t>
            </a:r>
            <a:r>
              <a:rPr lang="zh-CN" altLang="en-US" sz="1600"/>
              <a:t>；生产以限速</a:t>
            </a:r>
            <a:r>
              <a:rPr lang="en-US" altLang="zh-CN" sz="1600"/>
              <a:t> + </a:t>
            </a:r>
            <a:r>
              <a:rPr lang="zh-CN" altLang="en-US" sz="1600"/>
              <a:t>按角色白名单约束；未来：内核态</a:t>
            </a:r>
            <a:r>
              <a:rPr lang="en-US" altLang="zh-CN" sz="1600"/>
              <a:t> cgroup/PID </a:t>
            </a:r>
            <a:r>
              <a:rPr lang="zh-CN" altLang="en-US" sz="1600"/>
              <a:t>预过滤</a:t>
            </a:r>
          </a:p>
        </p:txBody>
      </p:sp>
      <p:graphicFrame>
        <p:nvGraphicFramePr>
          <p:cNvPr id="14" name="表格 13"/>
          <p:cNvGraphicFramePr/>
          <p:nvPr>
            <p:custDataLst>
              <p:tags r:id="rId1"/>
            </p:custDataLst>
          </p:nvPr>
        </p:nvGraphicFramePr>
        <p:xfrm>
          <a:off x="5971442" y="1282700"/>
          <a:ext cx="5640705" cy="3507232"/>
        </p:xfrm>
        <a:graphic>
          <a:graphicData uri="http://schemas.openxmlformats.org/drawingml/2006/table">
            <a:tbl>
              <a:tblPr firstRow="1" bandCol="1">
                <a:tableStyleId>{09445996-2312-49B1-96F2-F39E9EB4F94C}</a:tableStyleId>
              </a:tblPr>
              <a:tblGrid>
                <a:gridCol w="1433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9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34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453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800" spc="130">
                          <a:latin typeface="Calibri" panose="020F0502020204030204" charset="0"/>
                          <a:ea typeface="Arial" panose="020B0604020202020204" pitchFamily="34" charset="0"/>
                        </a:rPr>
                        <a:t>模式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20000"/>
                        </a:lnSpc>
                      </a:pPr>
                      <a:r>
                        <a:rPr lang="zh-CN" altLang="en-US" sz="1800" spc="130">
                          <a:latin typeface="Calibri" panose="020F0502020204030204" charset="0"/>
                          <a:ea typeface="Arial" panose="020B0604020202020204" pitchFamily="34" charset="0"/>
                        </a:rPr>
                        <a:t>捕获开销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800" spc="130">
                          <a:latin typeface="Calibri" panose="020F0502020204030204" charset="0"/>
                          <a:ea typeface="Arial" panose="020B0604020202020204" pitchFamily="34" charset="0"/>
                        </a:rPr>
                        <a:t>门控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800" spc="130">
                          <a:latin typeface="Calibri" panose="020F0502020204030204" charset="0"/>
                          <a:ea typeface="Arial" panose="020B0604020202020204" pitchFamily="34" charset="0"/>
                        </a:rPr>
                        <a:t>结论</a:t>
                      </a:r>
                    </a:p>
                  </a:txBody>
                  <a:tcPr marL="254000" marR="254000" marT="177800" marB="1778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600">
                          <a:latin typeface="Calibri" panose="020F0502020204030204" charset="0"/>
                          <a:ea typeface="Arial" panose="020B0604020202020204" pitchFamily="34" charset="0"/>
                        </a:rPr>
                        <a:t>kernel-only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20000"/>
                        </a:lnSpc>
                      </a:pPr>
                      <a:r>
                        <a:rPr lang="en-US" altLang="zh-CN" sz="1600">
                          <a:latin typeface="Calibri" panose="020F0502020204030204" charset="0"/>
                          <a:ea typeface="Arial" panose="020B0604020202020204" pitchFamily="34" charset="0"/>
                        </a:rPr>
                        <a:t>2.18%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600">
                          <a:latin typeface="Calibri" panose="020F0502020204030204" charset="0"/>
                          <a:ea typeface="Arial" panose="020B0604020202020204" pitchFamily="34" charset="0"/>
                        </a:rPr>
                        <a:t>≤ 5%</a:t>
                      </a:r>
                      <a:r>
                        <a:rPr lang="zh-CN" altLang="en-US" sz="1600">
                          <a:latin typeface="Calibri" panose="020F0502020204030204" charset="0"/>
                          <a:ea typeface="Arial" panose="020B0604020202020204" pitchFamily="34" charset="0"/>
                        </a:rPr>
                        <a:t>（严格）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600">
                          <a:latin typeface="Calibri" panose="020F0502020204030204" charset="0"/>
                          <a:ea typeface="Arial" panose="020B0604020202020204" pitchFamily="34" charset="0"/>
                        </a:rPr>
                        <a:t>✅</a:t>
                      </a:r>
                    </a:p>
                  </a:txBody>
                  <a:tcPr marL="254000" marR="254000" marT="177800" marB="1778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600">
                          <a:latin typeface="Calibri" panose="020F0502020204030204" charset="0"/>
                          <a:ea typeface="Arial" panose="020B0604020202020204" pitchFamily="34" charset="0"/>
                        </a:rPr>
                        <a:t>kernel+tls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20000"/>
                        </a:lnSpc>
                      </a:pPr>
                      <a:r>
                        <a:rPr lang="en-US" altLang="zh-CN" sz="1600">
                          <a:latin typeface="Calibri" panose="020F0502020204030204" charset="0"/>
                          <a:ea typeface="Arial" panose="020B0604020202020204" pitchFamily="34" charset="0"/>
                        </a:rPr>
                        <a:t>2.27%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600">
                          <a:latin typeface="Calibri" panose="020F0502020204030204" charset="0"/>
                          <a:ea typeface="Arial" panose="020B0604020202020204" pitchFamily="34" charset="0"/>
                        </a:rPr>
                        <a:t>≤ 5%</a:t>
                      </a:r>
                      <a:r>
                        <a:rPr lang="zh-CN" altLang="en-US" sz="1600">
                          <a:latin typeface="Calibri" panose="020F0502020204030204" charset="0"/>
                          <a:ea typeface="Arial" panose="020B0604020202020204" pitchFamily="34" charset="0"/>
                        </a:rPr>
                        <a:t>（严格）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600">
                          <a:latin typeface="Calibri" panose="020F0502020204030204" charset="0"/>
                          <a:ea typeface="Arial" panose="020B0604020202020204" pitchFamily="34" charset="0"/>
                        </a:rPr>
                        <a:t>✅</a:t>
                      </a:r>
                    </a:p>
                  </a:txBody>
                  <a:tcPr marL="254000" marR="254000" marT="177800" marB="1778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190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600">
                          <a:latin typeface="Calibri" panose="020F0502020204030204" charset="0"/>
                          <a:ea typeface="Arial" panose="020B0604020202020204" pitchFamily="34" charset="0"/>
                        </a:rPr>
                        <a:t>full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20000"/>
                        </a:lnSpc>
                      </a:pPr>
                      <a:r>
                        <a:rPr lang="en-US" altLang="zh-CN" sz="1600">
                          <a:latin typeface="Calibri" panose="020F0502020204030204" charset="0"/>
                          <a:ea typeface="Arial" panose="020B0604020202020204" pitchFamily="34" charset="0"/>
                        </a:rPr>
                        <a:t>4.04%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600">
                          <a:latin typeface="Calibri" panose="020F0502020204030204" charset="0"/>
                          <a:ea typeface="Arial" panose="020B0604020202020204" pitchFamily="34" charset="0"/>
                        </a:rPr>
                        <a:t>信息项（随内容吞吐量变化）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600">
                          <a:latin typeface="Calibri" panose="020F0502020204030204" charset="0"/>
                          <a:ea typeface="Arial" panose="020B0604020202020204" pitchFamily="34" charset="0"/>
                        </a:rPr>
                        <a:t>✅</a:t>
                      </a:r>
                    </a:p>
                  </a:txBody>
                  <a:tcPr marL="254000" marR="254000" marT="177800" marB="1778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5885815" y="4591685"/>
            <a:ext cx="15760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性能测试情况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03910" y="914400"/>
            <a:ext cx="48025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2.4 </a:t>
            </a:r>
            <a:r>
              <a:rPr lang="zh-CN" b="1"/>
              <a:t>扩展：</a:t>
            </a:r>
            <a:r>
              <a:rPr lang="en-US" altLang="zh-CN" b="1"/>
              <a:t>Phase6 </a:t>
            </a:r>
            <a:r>
              <a:rPr lang="zh-CN" altLang="en-US" b="1"/>
              <a:t>现状与后续计划</a:t>
            </a:r>
          </a:p>
        </p:txBody>
      </p:sp>
      <p:sp>
        <p:nvSpPr>
          <p:cNvPr id="4" name="椭圆 3"/>
          <p:cNvSpPr/>
          <p:nvPr/>
        </p:nvSpPr>
        <p:spPr>
          <a:xfrm>
            <a:off x="396875" y="990550"/>
            <a:ext cx="216000" cy="216000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612775" y="1626235"/>
          <a:ext cx="10967085" cy="4123690"/>
        </p:xfrm>
        <a:graphic>
          <a:graphicData uri="http://schemas.openxmlformats.org/drawingml/2006/table">
            <a:tbl>
              <a:tblPr firstRow="1" bandRow="1">
                <a:tableStyleId>{011DA996-12C8-46FB-9591-A1777E366F00}</a:tableStyleId>
              </a:tblPr>
              <a:tblGrid>
                <a:gridCol w="3523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3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09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9455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800" spc="130"/>
                        <a:t>子项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800" spc="130"/>
                        <a:t>现状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800" spc="130"/>
                        <a:t>后续计划</a:t>
                      </a:r>
                    </a:p>
                  </a:txBody>
                  <a:tcPr marL="254000" marR="254000" marT="177800" marB="1778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072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600"/>
                        <a:t>content_io + stdio/pipe </a:t>
                      </a:r>
                      <a:r>
                        <a:rPr lang="zh-CN" altLang="en-US" sz="1600"/>
                        <a:t>白名单采样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600"/>
                        <a:t>代码 </a:t>
                      </a:r>
                      <a:r>
                        <a:rPr lang="en-US" altLang="zh-CN" sz="1600"/>
                        <a:t>+ </a:t>
                      </a:r>
                      <a:r>
                        <a:rPr lang="zh-CN" altLang="en-US" sz="1600"/>
                        <a:t>单测已有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600"/>
                        <a:t>补独立 </a:t>
                      </a:r>
                      <a:r>
                        <a:rPr lang="en-US" altLang="zh-CN" sz="1600"/>
                        <a:t>live </a:t>
                      </a:r>
                      <a:r>
                        <a:rPr lang="zh-CN" altLang="en-US" sz="1600"/>
                        <a:t>场景验证白名单 </a:t>
                      </a:r>
                      <a:r>
                        <a:rPr lang="en-US" altLang="zh-CN" sz="1600"/>
                        <a:t>fd </a:t>
                      </a:r>
                      <a:r>
                        <a:rPr lang="zh-CN" altLang="en-US" sz="1600"/>
                        <a:t>内容捕获</a:t>
                      </a:r>
                    </a:p>
                  </a:txBody>
                  <a:tcPr marL="254000" marR="254000" marT="177800" marB="1778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1355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600"/>
                        <a:t>MCP JSON-RPC </a:t>
                      </a:r>
                      <a:r>
                        <a:rPr lang="zh-CN" altLang="en-US" sz="1600"/>
                        <a:t>解析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600"/>
                        <a:t>解析有单测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600"/>
                        <a:t>接入更多真实 </a:t>
                      </a:r>
                      <a:r>
                        <a:rPr lang="en-US" altLang="zh-CN" sz="1600"/>
                        <a:t>MCP server </a:t>
                      </a:r>
                      <a:r>
                        <a:rPr lang="zh-CN" altLang="en-US" sz="1600"/>
                        <a:t>验证</a:t>
                      </a:r>
                    </a:p>
                  </a:txBody>
                  <a:tcPr marL="254000" marR="254000" marT="177800" marB="1778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0085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600"/>
                        <a:t>MCP Tool Spoofing </a:t>
                      </a:r>
                      <a:r>
                        <a:rPr lang="zh-CN" altLang="en-US" sz="1600"/>
                        <a:t>检测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600"/>
                        <a:t>detector + </a:t>
                      </a:r>
                      <a:r>
                        <a:rPr lang="zh-CN" altLang="en-US" sz="1600"/>
                        <a:t>单测已有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600"/>
                        <a:t>补 </a:t>
                      </a:r>
                      <a:r>
                        <a:rPr lang="en-US" altLang="zh-CN" sz="1600"/>
                        <a:t>live </a:t>
                      </a:r>
                      <a:r>
                        <a:rPr lang="zh-CN" altLang="en-US" sz="1600"/>
                        <a:t>场景 </a:t>
                      </a:r>
                      <a:r>
                        <a:rPr lang="en-US" altLang="zh-CN" sz="1600"/>
                        <a:t>F</a:t>
                      </a:r>
                    </a:p>
                  </a:txBody>
                  <a:tcPr marL="254000" marR="254000" marT="177800" marB="1778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1355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600"/>
                        <a:t>events/graph/query IPC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600"/>
                        <a:t>已实现 </a:t>
                      </a:r>
                      <a:r>
                        <a:rPr lang="en-US" altLang="zh-CN" sz="1600"/>
                        <a:t>+ round-trip </a:t>
                      </a:r>
                      <a:r>
                        <a:rPr lang="zh-CN" altLang="en-US" sz="1600"/>
                        <a:t>测试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600"/>
                        <a:t>引入真实外部 </a:t>
                      </a:r>
                      <a:r>
                        <a:rPr lang="en-US" altLang="zh-CN" sz="1600"/>
                        <a:t>consumer </a:t>
                      </a:r>
                      <a:r>
                        <a:rPr lang="zh-CN" altLang="en-US" sz="1600"/>
                        <a:t>验证</a:t>
                      </a:r>
                    </a:p>
                  </a:txBody>
                  <a:tcPr marL="254000" marR="254000" marT="177800" marB="1778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072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600"/>
                        <a:t>可视化 </a:t>
                      </a:r>
                      <a:r>
                        <a:rPr lang="en-US" altLang="zh-CN" sz="1600"/>
                        <a:t>UI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600"/>
                        <a:t>未实现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600"/>
                        <a:t>基于已预留的 </a:t>
                      </a:r>
                      <a:r>
                        <a:rPr lang="en-US" altLang="zh-CN" sz="1600"/>
                        <a:t>IPC </a:t>
                      </a:r>
                      <a:r>
                        <a:rPr lang="zh-CN" altLang="en-US" sz="1600"/>
                        <a:t>协议接入只读前端（如 </a:t>
                      </a:r>
                      <a:r>
                        <a:rPr lang="en-US" altLang="zh-CN" sz="1600"/>
                        <a:t>Tauri</a:t>
                      </a:r>
                      <a:r>
                        <a:rPr lang="zh-CN" altLang="en-US" sz="1600"/>
                        <a:t>）</a:t>
                      </a:r>
                    </a:p>
                  </a:txBody>
                  <a:tcPr marL="254000" marR="254000" marT="177800" marB="1778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535305" y="5989320"/>
            <a:ext cx="91395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Phase 6 </a:t>
            </a:r>
            <a:r>
              <a:rPr lang="zh-CN" altLang="en-US"/>
              <a:t>拓展完成度约</a:t>
            </a:r>
            <a:r>
              <a:rPr lang="en-US" altLang="zh-CN"/>
              <a:t> 55%–65%</a:t>
            </a:r>
            <a:r>
              <a:rPr lang="zh-CN" altLang="en-US"/>
              <a:t>：底层能力多已进代码，缺</a:t>
            </a:r>
            <a:r>
              <a:rPr lang="en-US" altLang="zh-CN"/>
              <a:t>"</a:t>
            </a:r>
            <a:r>
              <a:rPr lang="zh-CN" altLang="en-US"/>
              <a:t>活场景证明</a:t>
            </a:r>
            <a:r>
              <a:rPr lang="en-US" altLang="zh-CN"/>
              <a:t>"</a:t>
            </a:r>
            <a:r>
              <a:rPr lang="zh-CN" altLang="en-US"/>
              <a:t>与</a:t>
            </a:r>
            <a:r>
              <a:rPr lang="en-US" altLang="zh-CN"/>
              <a:t> UI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293995" y="2310765"/>
            <a:ext cx="6397262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tx1"/>
                </a:solidFill>
              </a:rPr>
              <a:t>AI </a:t>
            </a:r>
            <a:r>
              <a:rPr lang="zh-CN" altLang="en-US" sz="6000" b="1" dirty="0">
                <a:solidFill>
                  <a:schemeClr val="tx1"/>
                </a:solidFill>
              </a:rPr>
              <a:t>使用说明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293995" y="3577590"/>
            <a:ext cx="62484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AI Tool Usage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177925" y="1510665"/>
            <a:ext cx="3314700" cy="3769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3900" b="1" i="1" dirty="0">
                <a:solidFill>
                  <a:schemeClr val="accent6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uFillTx/>
                <a:latin typeface="方正小标宋简体" panose="03000509000000000000" charset="-122"/>
                <a:ea typeface="方正小标宋简体" panose="03000509000000000000" charset="-122"/>
              </a:rPr>
              <a:t>03</a:t>
            </a: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-9525" y="4955540"/>
            <a:ext cx="3952875" cy="0"/>
          </a:xfrm>
          <a:prstGeom prst="line">
            <a:avLst/>
          </a:prstGeom>
          <a:solidFill>
            <a:srgbClr val="9B0000"/>
          </a:solidFill>
          <a:ln>
            <a:gradFill>
              <a:gsLst>
                <a:gs pos="0">
                  <a:schemeClr val="accent6"/>
                </a:gs>
                <a:gs pos="50000">
                  <a:schemeClr val="accent6"/>
                </a:gs>
                <a:gs pos="100000">
                  <a:schemeClr val="bg1">
                    <a:alpha val="50000"/>
                  </a:schemeClr>
                </a:gs>
              </a:gsLst>
              <a:lin ang="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 flipV="1">
            <a:off x="2649855" y="4736465"/>
            <a:ext cx="1293495" cy="15621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/>
        </p:nvCxnSpPr>
        <p:spPr>
          <a:xfrm flipH="1">
            <a:off x="8239125" y="1696085"/>
            <a:ext cx="3952875" cy="0"/>
          </a:xfrm>
          <a:prstGeom prst="line">
            <a:avLst/>
          </a:prstGeom>
          <a:solidFill>
            <a:srgbClr val="9B0000"/>
          </a:solidFill>
          <a:ln>
            <a:gradFill>
              <a:gsLst>
                <a:gs pos="0">
                  <a:schemeClr val="accent6"/>
                </a:gs>
                <a:gs pos="50000">
                  <a:schemeClr val="accent6"/>
                </a:gs>
                <a:gs pos="100000">
                  <a:schemeClr val="bg1">
                    <a:alpha val="50000"/>
                  </a:schemeClr>
                </a:gs>
              </a:gsLst>
              <a:lin ang="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 flipH="1">
            <a:off x="8239125" y="1758950"/>
            <a:ext cx="1293495" cy="15621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0" y="5507990"/>
            <a:ext cx="12195175" cy="1362075"/>
            <a:chOff x="0" y="5507990"/>
            <a:chExt cx="12195175" cy="1362075"/>
          </a:xfrm>
        </p:grpSpPr>
        <p:sp>
          <p:nvSpPr>
            <p:cNvPr id="21" name="任意多边形 688"/>
            <p:cNvSpPr/>
            <p:nvPr/>
          </p:nvSpPr>
          <p:spPr>
            <a:xfrm>
              <a:off x="3175" y="5507990"/>
              <a:ext cx="12192000" cy="1243330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9200" h="1958">
                  <a:moveTo>
                    <a:pt x="0" y="1958"/>
                  </a:moveTo>
                  <a:lnTo>
                    <a:pt x="0" y="1037"/>
                  </a:lnTo>
                  <a:cubicBezTo>
                    <a:pt x="159" y="1081"/>
                    <a:pt x="641" y="1121"/>
                    <a:pt x="855" y="1120"/>
                  </a:cubicBezTo>
                  <a:lnTo>
                    <a:pt x="867" y="1120"/>
                  </a:lnTo>
                  <a:lnTo>
                    <a:pt x="880" y="1120"/>
                  </a:lnTo>
                  <a:lnTo>
                    <a:pt x="894" y="1120"/>
                  </a:lnTo>
                  <a:lnTo>
                    <a:pt x="907" y="1119"/>
                  </a:lnTo>
                  <a:cubicBezTo>
                    <a:pt x="919" y="1120"/>
                    <a:pt x="942" y="1120"/>
                    <a:pt x="945" y="1120"/>
                  </a:cubicBezTo>
                  <a:cubicBezTo>
                    <a:pt x="1074" y="1120"/>
                    <a:pt x="1275" y="1111"/>
                    <a:pt x="1319" y="1108"/>
                  </a:cubicBezTo>
                  <a:lnTo>
                    <a:pt x="8140" y="708"/>
                  </a:lnTo>
                  <a:lnTo>
                    <a:pt x="8188" y="705"/>
                  </a:lnTo>
                  <a:lnTo>
                    <a:pt x="8236" y="704"/>
                  </a:lnTo>
                  <a:lnTo>
                    <a:pt x="8284" y="703"/>
                  </a:lnTo>
                  <a:lnTo>
                    <a:pt x="8331" y="703"/>
                  </a:lnTo>
                  <a:cubicBezTo>
                    <a:pt x="9270" y="695"/>
                    <a:pt x="10076" y="1264"/>
                    <a:pt x="10088" y="1446"/>
                  </a:cubicBezTo>
                  <a:lnTo>
                    <a:pt x="10088" y="1450"/>
                  </a:lnTo>
                  <a:lnTo>
                    <a:pt x="10089" y="1463"/>
                  </a:lnTo>
                  <a:lnTo>
                    <a:pt x="10089" y="1465"/>
                  </a:lnTo>
                  <a:lnTo>
                    <a:pt x="10089" y="1466"/>
                  </a:lnTo>
                  <a:lnTo>
                    <a:pt x="10089" y="1477"/>
                  </a:lnTo>
                  <a:lnTo>
                    <a:pt x="10090" y="1467"/>
                  </a:lnTo>
                  <a:lnTo>
                    <a:pt x="10090" y="1457"/>
                  </a:lnTo>
                  <a:lnTo>
                    <a:pt x="10088" y="1447"/>
                  </a:lnTo>
                  <a:lnTo>
                    <a:pt x="10088" y="1446"/>
                  </a:lnTo>
                  <a:lnTo>
                    <a:pt x="10088" y="1435"/>
                  </a:lnTo>
                  <a:cubicBezTo>
                    <a:pt x="10068" y="1129"/>
                    <a:pt x="11108" y="483"/>
                    <a:pt x="11830" y="491"/>
                  </a:cubicBezTo>
                  <a:lnTo>
                    <a:pt x="18333" y="110"/>
                  </a:lnTo>
                  <a:cubicBezTo>
                    <a:pt x="18639" y="99"/>
                    <a:pt x="19043" y="35"/>
                    <a:pt x="19200" y="0"/>
                  </a:cubicBezTo>
                  <a:lnTo>
                    <a:pt x="19200" y="1958"/>
                  </a:lnTo>
                  <a:lnTo>
                    <a:pt x="0" y="19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2" name="任意多边形 687"/>
            <p:cNvSpPr/>
            <p:nvPr/>
          </p:nvSpPr>
          <p:spPr>
            <a:xfrm>
              <a:off x="0" y="5551805"/>
              <a:ext cx="12192000" cy="1243330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9200" h="1958">
                  <a:moveTo>
                    <a:pt x="0" y="1958"/>
                  </a:moveTo>
                  <a:lnTo>
                    <a:pt x="0" y="1037"/>
                  </a:lnTo>
                  <a:cubicBezTo>
                    <a:pt x="159" y="1081"/>
                    <a:pt x="641" y="1121"/>
                    <a:pt x="855" y="1120"/>
                  </a:cubicBezTo>
                  <a:lnTo>
                    <a:pt x="867" y="1120"/>
                  </a:lnTo>
                  <a:lnTo>
                    <a:pt x="880" y="1120"/>
                  </a:lnTo>
                  <a:lnTo>
                    <a:pt x="894" y="1120"/>
                  </a:lnTo>
                  <a:lnTo>
                    <a:pt x="907" y="1119"/>
                  </a:lnTo>
                  <a:cubicBezTo>
                    <a:pt x="919" y="1120"/>
                    <a:pt x="942" y="1120"/>
                    <a:pt x="945" y="1120"/>
                  </a:cubicBezTo>
                  <a:cubicBezTo>
                    <a:pt x="1074" y="1120"/>
                    <a:pt x="1275" y="1111"/>
                    <a:pt x="1319" y="1108"/>
                  </a:cubicBezTo>
                  <a:lnTo>
                    <a:pt x="8140" y="708"/>
                  </a:lnTo>
                  <a:lnTo>
                    <a:pt x="8188" y="705"/>
                  </a:lnTo>
                  <a:lnTo>
                    <a:pt x="8236" y="704"/>
                  </a:lnTo>
                  <a:lnTo>
                    <a:pt x="8284" y="703"/>
                  </a:lnTo>
                  <a:lnTo>
                    <a:pt x="8331" y="703"/>
                  </a:lnTo>
                  <a:cubicBezTo>
                    <a:pt x="9270" y="695"/>
                    <a:pt x="10076" y="1264"/>
                    <a:pt x="10088" y="1446"/>
                  </a:cubicBezTo>
                  <a:lnTo>
                    <a:pt x="10088" y="1450"/>
                  </a:lnTo>
                  <a:lnTo>
                    <a:pt x="10089" y="1463"/>
                  </a:lnTo>
                  <a:lnTo>
                    <a:pt x="10089" y="1465"/>
                  </a:lnTo>
                  <a:lnTo>
                    <a:pt x="10089" y="1466"/>
                  </a:lnTo>
                  <a:lnTo>
                    <a:pt x="10089" y="1477"/>
                  </a:lnTo>
                  <a:lnTo>
                    <a:pt x="10090" y="1467"/>
                  </a:lnTo>
                  <a:lnTo>
                    <a:pt x="10090" y="1457"/>
                  </a:lnTo>
                  <a:lnTo>
                    <a:pt x="10088" y="1447"/>
                  </a:lnTo>
                  <a:lnTo>
                    <a:pt x="10088" y="1446"/>
                  </a:lnTo>
                  <a:lnTo>
                    <a:pt x="10088" y="1435"/>
                  </a:lnTo>
                  <a:cubicBezTo>
                    <a:pt x="10068" y="1129"/>
                    <a:pt x="11108" y="483"/>
                    <a:pt x="11830" y="491"/>
                  </a:cubicBezTo>
                  <a:lnTo>
                    <a:pt x="18333" y="110"/>
                  </a:lnTo>
                  <a:cubicBezTo>
                    <a:pt x="18639" y="99"/>
                    <a:pt x="19043" y="35"/>
                    <a:pt x="19200" y="0"/>
                  </a:cubicBezTo>
                  <a:lnTo>
                    <a:pt x="19200" y="1958"/>
                  </a:lnTo>
                  <a:lnTo>
                    <a:pt x="0" y="1958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3" name="任意多边形 682"/>
            <p:cNvSpPr/>
            <p:nvPr/>
          </p:nvSpPr>
          <p:spPr>
            <a:xfrm>
              <a:off x="0" y="5584825"/>
              <a:ext cx="12192000" cy="1243330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9200" h="1958">
                  <a:moveTo>
                    <a:pt x="0" y="1958"/>
                  </a:moveTo>
                  <a:lnTo>
                    <a:pt x="0" y="1037"/>
                  </a:lnTo>
                  <a:cubicBezTo>
                    <a:pt x="159" y="1081"/>
                    <a:pt x="641" y="1121"/>
                    <a:pt x="855" y="1120"/>
                  </a:cubicBezTo>
                  <a:lnTo>
                    <a:pt x="867" y="1120"/>
                  </a:lnTo>
                  <a:lnTo>
                    <a:pt x="880" y="1120"/>
                  </a:lnTo>
                  <a:lnTo>
                    <a:pt x="894" y="1120"/>
                  </a:lnTo>
                  <a:lnTo>
                    <a:pt x="907" y="1119"/>
                  </a:lnTo>
                  <a:cubicBezTo>
                    <a:pt x="919" y="1120"/>
                    <a:pt x="942" y="1120"/>
                    <a:pt x="945" y="1120"/>
                  </a:cubicBezTo>
                  <a:cubicBezTo>
                    <a:pt x="1074" y="1120"/>
                    <a:pt x="1275" y="1111"/>
                    <a:pt x="1319" y="1108"/>
                  </a:cubicBezTo>
                  <a:lnTo>
                    <a:pt x="8140" y="708"/>
                  </a:lnTo>
                  <a:lnTo>
                    <a:pt x="8188" y="705"/>
                  </a:lnTo>
                  <a:lnTo>
                    <a:pt x="8236" y="704"/>
                  </a:lnTo>
                  <a:lnTo>
                    <a:pt x="8284" y="703"/>
                  </a:lnTo>
                  <a:lnTo>
                    <a:pt x="8331" y="703"/>
                  </a:lnTo>
                  <a:cubicBezTo>
                    <a:pt x="9270" y="695"/>
                    <a:pt x="10076" y="1264"/>
                    <a:pt x="10088" y="1446"/>
                  </a:cubicBezTo>
                  <a:lnTo>
                    <a:pt x="10088" y="1450"/>
                  </a:lnTo>
                  <a:lnTo>
                    <a:pt x="10089" y="1463"/>
                  </a:lnTo>
                  <a:lnTo>
                    <a:pt x="10089" y="1465"/>
                  </a:lnTo>
                  <a:lnTo>
                    <a:pt x="10089" y="1466"/>
                  </a:lnTo>
                  <a:lnTo>
                    <a:pt x="10089" y="1477"/>
                  </a:lnTo>
                  <a:lnTo>
                    <a:pt x="10090" y="1467"/>
                  </a:lnTo>
                  <a:lnTo>
                    <a:pt x="10090" y="1457"/>
                  </a:lnTo>
                  <a:lnTo>
                    <a:pt x="10088" y="1447"/>
                  </a:lnTo>
                  <a:lnTo>
                    <a:pt x="10088" y="1446"/>
                  </a:lnTo>
                  <a:lnTo>
                    <a:pt x="10088" y="1435"/>
                  </a:lnTo>
                  <a:cubicBezTo>
                    <a:pt x="10068" y="1129"/>
                    <a:pt x="11108" y="483"/>
                    <a:pt x="11830" y="491"/>
                  </a:cubicBezTo>
                  <a:lnTo>
                    <a:pt x="18333" y="110"/>
                  </a:lnTo>
                  <a:cubicBezTo>
                    <a:pt x="18639" y="99"/>
                    <a:pt x="19043" y="35"/>
                    <a:pt x="19200" y="0"/>
                  </a:cubicBezTo>
                  <a:lnTo>
                    <a:pt x="19200" y="1958"/>
                  </a:lnTo>
                  <a:lnTo>
                    <a:pt x="0" y="1958"/>
                  </a:lnTo>
                  <a:close/>
                </a:path>
              </a:pathLst>
            </a:custGeom>
            <a:solidFill>
              <a:schemeClr val="accent6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4" name="任意多边形 689"/>
            <p:cNvSpPr/>
            <p:nvPr/>
          </p:nvSpPr>
          <p:spPr>
            <a:xfrm>
              <a:off x="1270" y="5645785"/>
              <a:ext cx="12192000" cy="1224280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9200" h="1958">
                  <a:moveTo>
                    <a:pt x="0" y="1958"/>
                  </a:moveTo>
                  <a:lnTo>
                    <a:pt x="0" y="1037"/>
                  </a:lnTo>
                  <a:cubicBezTo>
                    <a:pt x="159" y="1081"/>
                    <a:pt x="641" y="1121"/>
                    <a:pt x="855" y="1120"/>
                  </a:cubicBezTo>
                  <a:lnTo>
                    <a:pt x="867" y="1120"/>
                  </a:lnTo>
                  <a:lnTo>
                    <a:pt x="880" y="1120"/>
                  </a:lnTo>
                  <a:lnTo>
                    <a:pt x="894" y="1120"/>
                  </a:lnTo>
                  <a:lnTo>
                    <a:pt x="907" y="1119"/>
                  </a:lnTo>
                  <a:cubicBezTo>
                    <a:pt x="919" y="1120"/>
                    <a:pt x="942" y="1120"/>
                    <a:pt x="945" y="1120"/>
                  </a:cubicBezTo>
                  <a:cubicBezTo>
                    <a:pt x="1074" y="1120"/>
                    <a:pt x="1275" y="1111"/>
                    <a:pt x="1319" y="1108"/>
                  </a:cubicBezTo>
                  <a:lnTo>
                    <a:pt x="8140" y="708"/>
                  </a:lnTo>
                  <a:lnTo>
                    <a:pt x="8188" y="705"/>
                  </a:lnTo>
                  <a:lnTo>
                    <a:pt x="8236" y="704"/>
                  </a:lnTo>
                  <a:lnTo>
                    <a:pt x="8284" y="703"/>
                  </a:lnTo>
                  <a:lnTo>
                    <a:pt x="8331" y="703"/>
                  </a:lnTo>
                  <a:cubicBezTo>
                    <a:pt x="9270" y="695"/>
                    <a:pt x="10076" y="1264"/>
                    <a:pt x="10088" y="1446"/>
                  </a:cubicBezTo>
                  <a:lnTo>
                    <a:pt x="10088" y="1450"/>
                  </a:lnTo>
                  <a:lnTo>
                    <a:pt x="10089" y="1463"/>
                  </a:lnTo>
                  <a:lnTo>
                    <a:pt x="10089" y="1465"/>
                  </a:lnTo>
                  <a:lnTo>
                    <a:pt x="10089" y="1466"/>
                  </a:lnTo>
                  <a:lnTo>
                    <a:pt x="10089" y="1477"/>
                  </a:lnTo>
                  <a:lnTo>
                    <a:pt x="10090" y="1467"/>
                  </a:lnTo>
                  <a:lnTo>
                    <a:pt x="10090" y="1457"/>
                  </a:lnTo>
                  <a:lnTo>
                    <a:pt x="10088" y="1447"/>
                  </a:lnTo>
                  <a:lnTo>
                    <a:pt x="10088" y="1446"/>
                  </a:lnTo>
                  <a:lnTo>
                    <a:pt x="10088" y="1435"/>
                  </a:lnTo>
                  <a:cubicBezTo>
                    <a:pt x="10068" y="1129"/>
                    <a:pt x="11108" y="483"/>
                    <a:pt x="11830" y="491"/>
                  </a:cubicBezTo>
                  <a:lnTo>
                    <a:pt x="18333" y="110"/>
                  </a:lnTo>
                  <a:cubicBezTo>
                    <a:pt x="18639" y="99"/>
                    <a:pt x="19043" y="35"/>
                    <a:pt x="19200" y="0"/>
                  </a:cubicBezTo>
                  <a:lnTo>
                    <a:pt x="19200" y="1958"/>
                  </a:lnTo>
                  <a:lnTo>
                    <a:pt x="0" y="1958"/>
                  </a:lnTo>
                  <a:close/>
                </a:path>
              </a:pathLst>
            </a:custGeom>
            <a:solidFill>
              <a:schemeClr val="accent6"/>
            </a:solidFill>
            <a:ln>
              <a:solidFill>
                <a:schemeClr val="accent6"/>
              </a:solidFill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</p:grpSp>
      <p:pic>
        <p:nvPicPr>
          <p:cNvPr id="14" name="图片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367" y="158491"/>
            <a:ext cx="2589836" cy="82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/>
        </p:nvSpPr>
        <p:spPr>
          <a:xfrm>
            <a:off x="396875" y="990550"/>
            <a:ext cx="216000" cy="216000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885190" y="930275"/>
            <a:ext cx="351599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ct val="60000"/>
              </a:spcAft>
            </a:pPr>
            <a:r>
              <a:rPr lang="en-US" altLang="zh-CN" sz="1600" b="1"/>
              <a:t>AI </a:t>
            </a:r>
            <a:r>
              <a:rPr lang="zh-CN" altLang="en-US" sz="1600" b="1"/>
              <a:t>工具使用说明</a:t>
            </a: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8179435" y="3514725"/>
          <a:ext cx="3743325" cy="2449830"/>
        </p:xfrm>
        <a:graphic>
          <a:graphicData uri="http://schemas.openxmlformats.org/drawingml/2006/table">
            <a:tbl>
              <a:tblPr firstRow="1" bandRow="1">
                <a:tableStyleId>{4AC6BC4E-6879-46B7-B837-0501D2D2CF9E}</a:tableStyleId>
              </a:tblPr>
              <a:tblGrid>
                <a:gridCol w="1479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53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702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500" spc="120">
                          <a:latin typeface="Calibri" panose="020F0502020204030204" charset="0"/>
                          <a:ea typeface="Arial" panose="020B0604020202020204" pitchFamily="34" charset="0"/>
                        </a:rPr>
                        <a:t>工具</a:t>
                      </a:r>
                      <a:r>
                        <a:rPr lang="en-US" altLang="zh-CN" sz="1500" spc="120">
                          <a:latin typeface="Calibri" panose="020F0502020204030204" charset="0"/>
                          <a:ea typeface="Arial" panose="020B0604020202020204" pitchFamily="34" charset="0"/>
                        </a:rPr>
                        <a:t> / </a:t>
                      </a:r>
                      <a:r>
                        <a:rPr lang="zh-CN" altLang="en-US" sz="1500" spc="120">
                          <a:latin typeface="Calibri" panose="020F0502020204030204" charset="0"/>
                          <a:ea typeface="Arial" panose="020B0604020202020204" pitchFamily="34" charset="0"/>
                        </a:rPr>
                        <a:t>平台</a:t>
                      </a: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zh-CN" altLang="en-US" sz="1500" spc="120">
                          <a:latin typeface="Calibri" panose="020F0502020204030204" charset="0"/>
                          <a:ea typeface="Arial" panose="020B0604020202020204" pitchFamily="34" charset="0"/>
                        </a:rPr>
                        <a:t>关联大模型</a:t>
                      </a: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zh-CN" altLang="en-US" sz="1500" spc="120">
                          <a:latin typeface="Calibri" panose="020F0502020204030204" charset="0"/>
                          <a:ea typeface="Arial" panose="020B0604020202020204" pitchFamily="34" charset="0"/>
                        </a:rPr>
                        <a:t>主要用途</a:t>
                      </a:r>
                    </a:p>
                  </a:txBody>
                  <a:tcPr marL="25400" marR="25400" marT="6350" marB="63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266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300">
                          <a:latin typeface="Calibri" panose="020F0502020204030204" charset="0"/>
                          <a:ea typeface="Arial" panose="020B0604020202020204" pitchFamily="34" charset="0"/>
                        </a:rPr>
                        <a:t>Cursor IDE</a:t>
                      </a: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300">
                          <a:latin typeface="Calibri" panose="020F0502020204030204" charset="0"/>
                          <a:ea typeface="Arial" panose="020B0604020202020204" pitchFamily="34" charset="0"/>
                        </a:rPr>
                        <a:t>（</a:t>
                      </a:r>
                      <a:r>
                        <a:rPr lang="en-US" altLang="zh-CN" sz="1300">
                          <a:latin typeface="Calibri" panose="020F0502020204030204" charset="0"/>
                          <a:ea typeface="Arial" panose="020B0604020202020204" pitchFamily="34" charset="0"/>
                        </a:rPr>
                        <a:t>AI Agent</a:t>
                      </a:r>
                      <a:r>
                        <a:rPr lang="zh-CN" altLang="en-US" sz="1300">
                          <a:latin typeface="Calibri" panose="020F0502020204030204" charset="0"/>
                          <a:ea typeface="Arial" panose="020B0604020202020204" pitchFamily="34" charset="0"/>
                        </a:rPr>
                        <a:t>）</a:t>
                      </a: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en-US" altLang="zh-CN" sz="1300">
                          <a:latin typeface="Calibri" panose="020F0502020204030204" charset="0"/>
                          <a:ea typeface="Arial" panose="020B0604020202020204" pitchFamily="34" charset="0"/>
                        </a:rPr>
                        <a:t>GPT-5.5</a:t>
                      </a:r>
                      <a:r>
                        <a:rPr lang="zh-CN" altLang="en-US" sz="1300">
                          <a:latin typeface="Calibri" panose="020F0502020204030204" charset="0"/>
                          <a:ea typeface="Arial" panose="020B0604020202020204" pitchFamily="34" charset="0"/>
                        </a:rPr>
                        <a:t>、</a:t>
                      </a:r>
                      <a:r>
                        <a:rPr lang="en-US" altLang="zh-CN" sz="1300">
                          <a:latin typeface="Calibri" panose="020F0502020204030204" charset="0"/>
                          <a:ea typeface="Arial" panose="020B0604020202020204" pitchFamily="34" charset="0"/>
                        </a:rPr>
                        <a:t>Claude</a:t>
                      </a:r>
                      <a:r>
                        <a:rPr lang="zh-CN" altLang="en-US" sz="1300">
                          <a:latin typeface="Calibri" panose="020F0502020204030204" charset="0"/>
                          <a:ea typeface="Arial" panose="020B0604020202020204" pitchFamily="34" charset="0"/>
                        </a:rPr>
                        <a:t>（</a:t>
                      </a:r>
                      <a:r>
                        <a:rPr lang="en-US" altLang="zh-CN" sz="1300">
                          <a:latin typeface="Calibri" panose="020F0502020204030204" charset="0"/>
                          <a:ea typeface="Arial" panose="020B0604020202020204" pitchFamily="34" charset="0"/>
                        </a:rPr>
                        <a:t>Composer</a:t>
                      </a:r>
                      <a:r>
                        <a:rPr lang="zh-CN" altLang="en-US" sz="1300">
                          <a:latin typeface="Calibri" panose="020F0502020204030204" charset="0"/>
                          <a:ea typeface="Arial" panose="020B0604020202020204" pitchFamily="34" charset="0"/>
                        </a:rPr>
                        <a:t>、</a:t>
                      </a:r>
                      <a:r>
                        <a:rPr lang="en-US" altLang="zh-CN" sz="1300">
                          <a:latin typeface="Calibri" panose="020F0502020204030204" charset="0"/>
                          <a:ea typeface="Arial" panose="020B0604020202020204" pitchFamily="34" charset="0"/>
                        </a:rPr>
                        <a:t>Opus</a:t>
                      </a:r>
                      <a:r>
                        <a:rPr lang="zh-CN" altLang="en-US" sz="1300">
                          <a:latin typeface="Calibri" panose="020F0502020204030204" charset="0"/>
                          <a:ea typeface="Arial" panose="020B0604020202020204" pitchFamily="34" charset="0"/>
                        </a:rPr>
                        <a:t>、</a:t>
                      </a:r>
                      <a:r>
                        <a:rPr lang="en-US" altLang="zh-CN" sz="1300">
                          <a:latin typeface="Calibri" panose="020F0502020204030204" charset="0"/>
                          <a:ea typeface="Arial" panose="020B0604020202020204" pitchFamily="34" charset="0"/>
                        </a:rPr>
                        <a:t>Sonnet </a:t>
                      </a:r>
                      <a:r>
                        <a:rPr lang="zh-CN" altLang="en-US" sz="1300">
                          <a:latin typeface="Calibri" panose="020F0502020204030204" charset="0"/>
                          <a:ea typeface="Arial" panose="020B0604020202020204" pitchFamily="34" charset="0"/>
                        </a:rPr>
                        <a:t>等）</a:t>
                      </a: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zh-CN" altLang="en-US" sz="1300">
                          <a:latin typeface="Calibri" panose="020F0502020204030204" charset="0"/>
                          <a:ea typeface="Arial" panose="020B0604020202020204" pitchFamily="34" charset="0"/>
                        </a:rPr>
                        <a:t>代码生成与重构、调试、测试、文档编写</a:t>
                      </a:r>
                    </a:p>
                  </a:txBody>
                  <a:tcPr marL="25400" marR="25400" marT="6350" marB="63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300">
                          <a:latin typeface="Calibri" panose="020F0502020204030204" charset="0"/>
                          <a:ea typeface="Arial" panose="020B0604020202020204" pitchFamily="34" charset="0"/>
                        </a:rPr>
                        <a:t>OpenAI ChatGPT</a:t>
                      </a: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en-US" altLang="zh-CN" sz="1300">
                          <a:latin typeface="Calibri" panose="020F0502020204030204" charset="0"/>
                          <a:ea typeface="Arial" panose="020B0604020202020204" pitchFamily="34" charset="0"/>
                        </a:rPr>
                        <a:t>GPT-5.5</a:t>
                      </a: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zh-CN" altLang="en-US" sz="1300">
                          <a:latin typeface="Calibri" panose="020F0502020204030204" charset="0"/>
                          <a:ea typeface="Arial" panose="020B0604020202020204" pitchFamily="34" charset="0"/>
                        </a:rPr>
                        <a:t>架构讨论、技术咨询、代码实现、文档撰写、测试分析</a:t>
                      </a:r>
                    </a:p>
                  </a:txBody>
                  <a:tcPr marL="25400" marR="25400" marT="6350" marB="63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527685" y="1482725"/>
            <a:ext cx="378206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AI </a:t>
            </a:r>
            <a:r>
              <a:rPr lang="zh-CN" altLang="en-US" dirty="0"/>
              <a:t>工具使用场景</a:t>
            </a:r>
            <a:br>
              <a:rPr lang="zh-CN" altLang="en-US" dirty="0"/>
            </a:br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accent1"/>
                </a:solidFill>
              </a:rPr>
              <a:t>代码开发</a:t>
            </a:r>
            <a:r>
              <a:rPr lang="zh-CN" altLang="en-US" dirty="0"/>
              <a:t>：代码生成、重构、模块设计与功能实现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accent1"/>
                </a:solidFill>
              </a:rPr>
              <a:t>系统编程咨询</a:t>
            </a:r>
            <a:r>
              <a:rPr lang="zh-CN" altLang="en-US" dirty="0"/>
              <a:t>：</a:t>
            </a:r>
            <a:r>
              <a:rPr lang="en-US" altLang="zh-CN" dirty="0" err="1"/>
              <a:t>eBPF</a:t>
            </a:r>
            <a:r>
              <a:rPr lang="zh-CN" altLang="en-US" dirty="0"/>
              <a:t>、</a:t>
            </a:r>
            <a:r>
              <a:rPr lang="en-US" altLang="zh-CN" dirty="0"/>
              <a:t>Rust</a:t>
            </a:r>
            <a:r>
              <a:rPr lang="zh-CN" altLang="en-US" dirty="0"/>
              <a:t>、系统调用及相关技术问题分析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accent1"/>
                </a:solidFill>
              </a:rPr>
              <a:t>测试与验证</a:t>
            </a:r>
            <a:r>
              <a:rPr lang="zh-CN" altLang="en-US" dirty="0"/>
              <a:t>：测试用例设计、结果分析、构建与调试问题定位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accent1"/>
                </a:solidFill>
              </a:rPr>
              <a:t>性能分析</a:t>
            </a:r>
            <a:r>
              <a:rPr lang="zh-CN" altLang="en-US" dirty="0"/>
              <a:t>：性能基准设计、测试结果分析与优化建议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accent1"/>
                </a:solidFill>
              </a:rPr>
              <a:t>文档编写</a:t>
            </a:r>
            <a:r>
              <a:rPr lang="zh-CN" altLang="en-US" dirty="0"/>
              <a:t>：</a:t>
            </a:r>
            <a:r>
              <a:rPr lang="en-US" altLang="zh-CN" dirty="0"/>
              <a:t>README</a:t>
            </a:r>
            <a:r>
              <a:rPr lang="zh-CN" altLang="en-US" dirty="0"/>
              <a:t>、设计文档、答辩</a:t>
            </a:r>
            <a:r>
              <a:rPr lang="en-US" altLang="zh-CN" dirty="0"/>
              <a:t> PPT </a:t>
            </a:r>
            <a:r>
              <a:rPr lang="zh-CN" altLang="en-US" dirty="0"/>
              <a:t>等材料整理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accent1"/>
                </a:solidFill>
              </a:rPr>
              <a:t>项目管理</a:t>
            </a:r>
            <a:r>
              <a:rPr lang="zh-CN" altLang="en-US" dirty="0"/>
              <a:t>：项目进度分析、交付物梳理、答辩准备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178800" y="1482725"/>
            <a:ext cx="3674110" cy="19323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/>
              <a:t>AI </a:t>
            </a:r>
            <a:r>
              <a:rPr lang="zh-CN" altLang="en-US"/>
              <a:t>辅助生成（经人工审核与修改）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部分代码、模块框架及单元测试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测试脚本与性能基准脚本初稿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README</a:t>
            </a:r>
            <a:r>
              <a:rPr lang="zh-CN" altLang="en-US"/>
              <a:t>、设计文档、答辩材料等文档初稿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测试结果分析与问题定位建议</a:t>
            </a:r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4519930" y="1482725"/>
            <a:ext cx="3214370" cy="43961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>
                <a:sym typeface="+mn-ea"/>
              </a:rPr>
              <a:t>人工主导设计，</a:t>
            </a:r>
            <a:r>
              <a:rPr lang="en-US" altLang="zh-CN">
                <a:sym typeface="+mn-ea"/>
              </a:rPr>
              <a:t>AI </a:t>
            </a:r>
            <a:r>
              <a:rPr lang="zh-CN" altLang="en-US">
                <a:sym typeface="+mn-ea"/>
              </a:rPr>
              <a:t>辅助实现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系统总体架构设计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检测流程与跨层关联策略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威胁模型与异常检测规则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告警机制及实现方案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zh-CN" altLang="en-US">
                <a:sym typeface="+mn-ea"/>
              </a:rPr>
              <a:t>完全由团队完成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系统架构与算法最终决策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功能实现与代码审核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正确性验证与性能确认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项目整体方案及技术路线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29&quot;:[50053024],&quot;70&quot;:[3403268,3403290,3321782,3321502,3429030,3318299,3428043,3428977,3314671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32.2678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27.4285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32.2678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27.4285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32.2678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27.4285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32.2678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27.4285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32.2678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27.42858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32.2678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27.4285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32.2678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27.42858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32.2678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27.42858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32.2678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27.42858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32.2678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27.42858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32.2678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27.42858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32.2678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27.42858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32.2678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27.42858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32.2678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27.42858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32.2678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27.42858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32.26783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27.42858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32.26783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27.4285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32.2678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27.42858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.00000000000009,&quot;left&quot;:64.9,&quot;top&quot;:385.69999999999993,&quot;width&quot;:823.15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.00000000000009,&quot;left&quot;:64.9,&quot;top&quot;:385.69999999999993,&quot;width&quot;:823.15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.00000000000009,&quot;left&quot;:64.9,&quot;top&quot;:385.69999999999993,&quot;width&quot;:823.15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.00000000000009,&quot;left&quot;:64.9,&quot;top&quot;:385.69999999999993,&quot;width&quot;:823.15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.00000000000009,&quot;left&quot;:64.9,&quot;top&quot;:385.69999999999993,&quot;width&quot;:823.15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.00000000000009,&quot;left&quot;:64.9,&quot;top&quot;:385.69999999999993,&quot;width&quot;:823.15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75,&quot;left&quot;:123.7,&quot;top&quot;:108.85,&quot;width&quot;:800.55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75,&quot;left&quot;:123.7,&quot;top&quot;:108.85,&quot;width&quot;:800.55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75,&quot;left&quot;:123.7,&quot;top&quot;:108.85,&quot;width&quot;:800.55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75,&quot;left&quot;:123.7,&quot;top&quot;:108.85,&quot;width&quot;:800.55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75,&quot;left&quot;:123.7,&quot;top&quot;:108.85,&quot;width&quot;:800.55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75,&quot;left&quot;:123.7,&quot;top&quot;:108.85,&quot;width&quot;:800.55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75,&quot;left&quot;:123.7,&quot;top&quot;:108.85,&quot;width&quot;:800.55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75,&quot;left&quot;:123.7,&quot;top&quot;:108.85,&quot;width&quot;:800.55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75,&quot;left&quot;:123.7,&quot;top&quot;:108.85,&quot;width&quot;:800.55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75,&quot;left&quot;:123.7,&quot;top&quot;:108.85,&quot;width&quot;:800.55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75,&quot;left&quot;:123.7,&quot;top&quot;:108.85,&quot;width&quot;:800.55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75,&quot;left&quot;:123.7,&quot;top&quot;:108.85,&quot;width&quot;:800.55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70*371"/>
  <p:tag name="TABLE_ENDDRAG_RECT" val="44*132*870*37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8.58590551181098,&quot;left&quot;:129.52409448818898,&quot;top&quot;:125.9796062992126,&quot;width&quot;:567.242283464567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8.58590551181098,&quot;left&quot;:129.52409448818898,&quot;top&quot;:125.9796062992126,&quot;width&quot;:567.242283464567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8.58590551181098,&quot;left&quot;:129.52409448818898,&quot;top&quot;:125.9796062992126,&quot;width&quot;:567.242283464567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8.58590551181098,&quot;left&quot;:129.52409448818898,&quot;top&quot;:125.9796062992126,&quot;width&quot;:567.242283464567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8.58590551181098,&quot;left&quot;:129.52409448818898,&quot;top&quot;:125.9796062992126,&quot;width&quot;:567.242283464567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8.58590551181098,&quot;left&quot;:129.52409448818898,&quot;top&quot;:125.9796062992126,&quot;width&quot;:567.242283464567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8.58590551181098,&quot;left&quot;:129.52409448818898,&quot;top&quot;:125.9796062992126,&quot;width&quot;:567.242283464567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8.58590551181098,&quot;left&quot;:129.52409448818898,&quot;top&quot;:125.9796062992126,&quot;width&quot;:567.242283464567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8.58590551181098,&quot;left&quot;:129.52409448818898,&quot;top&quot;:125.9796062992126,&quot;width&quot;:567.242283464567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8.58590551181098,&quot;left&quot;:129.52409448818898,&quot;top&quot;:125.9796062992126,&quot;width&quot;:567.242283464567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07*284"/>
  <p:tag name="TABLE_ENDDRAG_RECT" val="200*121*507*284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63*324"/>
  <p:tag name="TABLE_ENDDRAG_RECT" val="48*128*863*324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94*148"/>
  <p:tag name="TABLE_ENDDRAG_RECT" val="644*281*294*148"/>
</p:tagLst>
</file>

<file path=ppt/theme/theme1.xml><?xml version="1.0" encoding="utf-8"?>
<a:theme xmlns:a="http://schemas.openxmlformats.org/drawingml/2006/main" name="WPS">
  <a:themeElements>
    <a:clrScheme name="自定义 54">
      <a:dk1>
        <a:sysClr val="windowText" lastClr="000000"/>
      </a:dk1>
      <a:lt1>
        <a:sysClr val="window" lastClr="FFFFFF"/>
      </a:lt1>
      <a:dk2>
        <a:srgbClr val="083090"/>
      </a:dk2>
      <a:lt2>
        <a:srgbClr val="E7E6E6"/>
      </a:lt2>
      <a:accent1>
        <a:srgbClr val="083090"/>
      </a:accent1>
      <a:accent2>
        <a:srgbClr val="083090"/>
      </a:accent2>
      <a:accent3>
        <a:srgbClr val="083090"/>
      </a:accent3>
      <a:accent4>
        <a:srgbClr val="083090"/>
      </a:accent4>
      <a:accent5>
        <a:srgbClr val="083090"/>
      </a:accent5>
      <a:accent6>
        <a:srgbClr val="083090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WPS">
  <a:themeElements>
    <a:clrScheme name="自定义 54">
      <a:dk1>
        <a:sysClr val="windowText" lastClr="000000"/>
      </a:dk1>
      <a:lt1>
        <a:sysClr val="window" lastClr="FFFFFF"/>
      </a:lt1>
      <a:dk2>
        <a:srgbClr val="083090"/>
      </a:dk2>
      <a:lt2>
        <a:srgbClr val="E7E6E6"/>
      </a:lt2>
      <a:accent1>
        <a:srgbClr val="083090"/>
      </a:accent1>
      <a:accent2>
        <a:srgbClr val="083090"/>
      </a:accent2>
      <a:accent3>
        <a:srgbClr val="083090"/>
      </a:accent3>
      <a:accent4>
        <a:srgbClr val="083090"/>
      </a:accent4>
      <a:accent5>
        <a:srgbClr val="083090"/>
      </a:accent5>
      <a:accent6>
        <a:srgbClr val="083090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1125</Words>
  <Application>Microsoft Office PowerPoint</Application>
  <PresentationFormat>宽屏</PresentationFormat>
  <Paragraphs>183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方正小标宋简体</vt:lpstr>
      <vt:lpstr>Arial</vt:lpstr>
      <vt:lpstr>Times New Roman</vt:lpstr>
      <vt:lpstr>黑体</vt:lpstr>
      <vt:lpstr>Calibri</vt:lpstr>
      <vt:lpstr>思源黑体 CN Medium</vt:lpstr>
      <vt:lpstr>Impact</vt:lpstr>
      <vt:lpstr>WPS</vt:lpstr>
      <vt:lpstr>2_WPS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佛系P了个T</Manager>
  <Company>佛系P了个T;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Grad.02-004复旦大学</dc:title>
  <dc:subject>毕业论文答辩PPT</dc:subject>
  <dc:creator>江木木</dc:creator>
  <cp:keywords>佛系P了个T</cp:keywords>
  <dc:description>由小红书博主“佛系P了个T”原创，仅限个人自用，禁止转载盗卖</dc:description>
  <cp:lastModifiedBy>Ruiming Wang</cp:lastModifiedBy>
  <cp:revision>199</cp:revision>
  <dcterms:created xsi:type="dcterms:W3CDTF">2023-08-09T12:44:00Z</dcterms:created>
  <dcterms:modified xsi:type="dcterms:W3CDTF">2026-06-30T15:57:46Z</dcterms:modified>
  <cp:category>毕业论文答辩PPT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D9594944432647A1B359A5B0E44DA2B3_13</vt:lpwstr>
  </property>
</Properties>
</file>